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6858000" cx="12192000"/>
  <p:notesSz cx="6858000" cy="9144000"/>
  <p:embeddedFontLst>
    <p:embeddedFont>
      <p:font typeface="Arial Black"/>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jfNb9fKthSCO8e4Y2BqaAQ0YKt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customschemas.google.com/relationships/presentationmetadata" Target="metadata"/><Relationship Id="rId12" Type="http://schemas.openxmlformats.org/officeDocument/2006/relationships/slide" Target="slides/slide8.xml"/><Relationship Id="rId56" Type="http://schemas.openxmlformats.org/officeDocument/2006/relationships/font" Target="fonts/ArialBlack-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3b34cbcae6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3b34cbcae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3b34cbcae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3b34cbca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1"/>
          <p:cNvSpPr/>
          <p:nvPr>
            <p:ph idx="2" type="pic"/>
          </p:nvPr>
        </p:nvSpPr>
        <p:spPr>
          <a:xfrm>
            <a:off x="5183188" y="987425"/>
            <a:ext cx="6172200" cy="4873625"/>
          </a:xfrm>
          <a:prstGeom prst="rect">
            <a:avLst/>
          </a:prstGeom>
          <a:noFill/>
          <a:ln>
            <a:noFill/>
          </a:ln>
        </p:spPr>
      </p:sp>
      <p:sp>
        <p:nvSpPr>
          <p:cNvPr id="64" name="Google Shape;64;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hyperlink" Target="https://ahrefs.com/" TargetMode="External"/><Relationship Id="rId5" Type="http://schemas.openxmlformats.org/officeDocument/2006/relationships/hyperlink" Target="https://www.semrush.com/" TargetMode="External"/><Relationship Id="rId6" Type="http://schemas.openxmlformats.org/officeDocument/2006/relationships/hyperlink" Target="https://moz.com/" TargetMode="External"/><Relationship Id="rId7" Type="http://schemas.openxmlformats.org/officeDocument/2006/relationships/hyperlink" Target="https://moz.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www.example.com/My-URL" TargetMode="External"/><Relationship Id="rId4" Type="http://schemas.openxmlformats.org/officeDocument/2006/relationships/hyperlink" Target="http://www.example.my-ur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www.example.com/categories/subcategories/producttype/product/product1/" TargetMode="External"/><Relationship Id="rId4" Type="http://schemas.openxmlformats.org/officeDocument/2006/relationships/hyperlink" Target="http://www.example.com/categories/subcategories/product1/" TargetMode="External"/><Relationship Id="rId5" Type="http://schemas.openxmlformats.org/officeDocument/2006/relationships/hyperlink" Target="http://www.example.com/categories/subcategories/product1/"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5.jp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387440" y="210579"/>
            <a:ext cx="10515600" cy="6523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9933"/>
              </a:buClr>
              <a:buSzPts val="3600"/>
              <a:buFont typeface="Verdana"/>
              <a:buNone/>
            </a:pPr>
            <a:r>
              <a:rPr b="1" lang="en-US" sz="3600">
                <a:solidFill>
                  <a:srgbClr val="FF9933"/>
                </a:solidFill>
                <a:latin typeface="Verdana"/>
                <a:ea typeface="Verdana"/>
                <a:cs typeface="Verdana"/>
                <a:sym typeface="Verdana"/>
              </a:rPr>
              <a:t>How Does Search Engine Works?</a:t>
            </a:r>
            <a:endParaRPr sz="3600">
              <a:solidFill>
                <a:srgbClr val="FF9933"/>
              </a:solidFill>
              <a:latin typeface="Verdana"/>
              <a:ea typeface="Verdana"/>
              <a:cs typeface="Verdana"/>
              <a:sym typeface="Verdana"/>
            </a:endParaRPr>
          </a:p>
        </p:txBody>
      </p:sp>
      <p:sp>
        <p:nvSpPr>
          <p:cNvPr id="90" name="Google Shape;90;p2"/>
          <p:cNvSpPr txBox="1"/>
          <p:nvPr>
            <p:ph idx="1" type="body"/>
          </p:nvPr>
        </p:nvSpPr>
        <p:spPr>
          <a:xfrm>
            <a:off x="231820" y="1234134"/>
            <a:ext cx="11745531" cy="5623866"/>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00"/>
              <a:buChar char="•"/>
            </a:pPr>
            <a:r>
              <a:rPr b="1" lang="en-US" sz="2600"/>
              <a:t>Crawling</a:t>
            </a:r>
            <a:r>
              <a:rPr lang="en-US" sz="2600"/>
              <a:t> - Process of fetching all the web pages linked to a website. This task is performed by a software, called a </a:t>
            </a:r>
            <a:r>
              <a:rPr b="1" lang="en-US" sz="2600"/>
              <a:t>crawler</a:t>
            </a:r>
            <a:r>
              <a:rPr lang="en-US" sz="2600"/>
              <a:t>/ </a:t>
            </a:r>
            <a:r>
              <a:rPr b="1" lang="en-US" sz="2600"/>
              <a:t>spider</a:t>
            </a:r>
            <a:r>
              <a:rPr lang="en-US" sz="2600"/>
              <a:t> (or Googlebot, in case of Google).</a:t>
            </a:r>
            <a:endParaRPr/>
          </a:p>
          <a:p>
            <a:pPr indent="-228600" lvl="0" marL="228600" rtl="0" algn="l">
              <a:lnSpc>
                <a:spcPct val="90000"/>
              </a:lnSpc>
              <a:spcBef>
                <a:spcPts val="1000"/>
              </a:spcBef>
              <a:spcAft>
                <a:spcPts val="0"/>
              </a:spcAft>
              <a:buClr>
                <a:schemeClr val="dk1"/>
              </a:buClr>
              <a:buSzPts val="2600"/>
              <a:buChar char="•"/>
            </a:pPr>
            <a:r>
              <a:rPr b="1" lang="en-US" sz="2600"/>
              <a:t>Indexing</a:t>
            </a:r>
            <a:r>
              <a:rPr lang="en-US" sz="2600"/>
              <a:t> - Process of creating index for all the fetched web pages and keeping them into a giant database from where it can later be retrieved</a:t>
            </a:r>
            <a:endParaRPr/>
          </a:p>
          <a:p>
            <a:pPr indent="-228600" lvl="0" marL="228600" rtl="0" algn="l">
              <a:lnSpc>
                <a:spcPct val="90000"/>
              </a:lnSpc>
              <a:spcBef>
                <a:spcPts val="1000"/>
              </a:spcBef>
              <a:spcAft>
                <a:spcPts val="0"/>
              </a:spcAft>
              <a:buClr>
                <a:schemeClr val="dk1"/>
              </a:buClr>
              <a:buSzPts val="2600"/>
              <a:buChar char="•"/>
            </a:pPr>
            <a:r>
              <a:rPr b="1" lang="en-US" sz="2600"/>
              <a:t>Processing</a:t>
            </a:r>
            <a:r>
              <a:rPr lang="en-US" sz="2600"/>
              <a:t> - When a search request comes, the search engine processes it, i.e. it compares the search string in the search request with the indexed pages in the database.</a:t>
            </a:r>
            <a:endParaRPr/>
          </a:p>
          <a:p>
            <a:pPr indent="-228600" lvl="0" marL="228600" rtl="0" algn="l">
              <a:lnSpc>
                <a:spcPct val="90000"/>
              </a:lnSpc>
              <a:spcBef>
                <a:spcPts val="1000"/>
              </a:spcBef>
              <a:spcAft>
                <a:spcPts val="0"/>
              </a:spcAft>
              <a:buClr>
                <a:schemeClr val="dk1"/>
              </a:buClr>
              <a:buSzPts val="2600"/>
              <a:buChar char="•"/>
            </a:pPr>
            <a:r>
              <a:rPr b="1" lang="en-US" sz="2600"/>
              <a:t>Calculating Relevancy</a:t>
            </a:r>
            <a:r>
              <a:rPr lang="en-US" sz="2600"/>
              <a:t> - It is likely that more than one page contains the search string, so the search engine starts calculating the relevancy of each of the pages in its index to the search string.</a:t>
            </a:r>
            <a:endParaRPr/>
          </a:p>
          <a:p>
            <a:pPr indent="-228600" lvl="0" marL="228600" rtl="0" algn="l">
              <a:lnSpc>
                <a:spcPct val="90000"/>
              </a:lnSpc>
              <a:spcBef>
                <a:spcPts val="1000"/>
              </a:spcBef>
              <a:spcAft>
                <a:spcPts val="0"/>
              </a:spcAft>
              <a:buClr>
                <a:schemeClr val="dk1"/>
              </a:buClr>
              <a:buSzPts val="2600"/>
              <a:buChar char="•"/>
            </a:pPr>
            <a:r>
              <a:rPr b="1" lang="en-US" sz="2600"/>
              <a:t>Retrieving Results</a:t>
            </a:r>
            <a:r>
              <a:rPr lang="en-US" sz="2600"/>
              <a:t> - The last step in search engine activities is retrieving the best matched results. Basically, it is nothing more than simply displaying them in the browser.</a:t>
            </a:r>
            <a:endParaRPr/>
          </a:p>
          <a:p>
            <a:pPr indent="-63500" lvl="0" marL="228600" rtl="0" algn="l">
              <a:lnSpc>
                <a:spcPct val="90000"/>
              </a:lnSpc>
              <a:spcBef>
                <a:spcPts val="1000"/>
              </a:spcBef>
              <a:spcAft>
                <a:spcPts val="0"/>
              </a:spcAft>
              <a:buClr>
                <a:schemeClr val="dk1"/>
              </a:buClr>
              <a:buSzPts val="2600"/>
              <a:buNone/>
            </a:pPr>
            <a:r>
              <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3"/>
          <p:cNvPicPr preferRelativeResize="0"/>
          <p:nvPr/>
        </p:nvPicPr>
        <p:blipFill rotWithShape="1">
          <a:blip r:embed="rId3">
            <a:alphaModFix/>
          </a:blip>
          <a:srcRect b="0" l="0" r="0" t="0"/>
          <a:stretch/>
        </p:blipFill>
        <p:spPr>
          <a:xfrm>
            <a:off x="979714" y="0"/>
            <a:ext cx="10120313"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2275437" y="338719"/>
            <a:ext cx="7959726" cy="6523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9933"/>
              </a:buClr>
              <a:buSzPts val="3600"/>
              <a:buFont typeface="Verdana"/>
              <a:buNone/>
            </a:pPr>
            <a:r>
              <a:rPr b="1" lang="en-US" sz="3600">
                <a:solidFill>
                  <a:srgbClr val="FF9933"/>
                </a:solidFill>
                <a:latin typeface="Verdana"/>
                <a:ea typeface="Verdana"/>
                <a:cs typeface="Verdana"/>
                <a:sym typeface="Verdana"/>
              </a:rPr>
              <a:t>How to add website in gsc?</a:t>
            </a:r>
            <a:endParaRPr sz="3600">
              <a:solidFill>
                <a:srgbClr val="FF9933"/>
              </a:solidFill>
              <a:latin typeface="Verdana"/>
              <a:ea typeface="Verdana"/>
              <a:cs typeface="Verdana"/>
              <a:sym typeface="Verdana"/>
            </a:endParaRPr>
          </a:p>
        </p:txBody>
      </p:sp>
      <p:pic>
        <p:nvPicPr>
          <p:cNvPr id="101" name="Google Shape;101;p4"/>
          <p:cNvPicPr preferRelativeResize="0"/>
          <p:nvPr/>
        </p:nvPicPr>
        <p:blipFill rotWithShape="1">
          <a:blip r:embed="rId3">
            <a:alphaModFix/>
          </a:blip>
          <a:srcRect b="5431" l="0" r="0" t="11737"/>
          <a:stretch/>
        </p:blipFill>
        <p:spPr>
          <a:xfrm>
            <a:off x="1172740" y="1139120"/>
            <a:ext cx="10006664" cy="504511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idx="1" type="body"/>
          </p:nvPr>
        </p:nvSpPr>
        <p:spPr>
          <a:xfrm>
            <a:off x="838200" y="888638"/>
            <a:ext cx="10515600" cy="5969361"/>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262626"/>
              </a:buClr>
              <a:buSzPct val="100000"/>
              <a:buChar char="•"/>
            </a:pPr>
            <a:r>
              <a:rPr b="1" lang="en-US" sz="2400">
                <a:solidFill>
                  <a:srgbClr val="262626"/>
                </a:solidFill>
                <a:latin typeface="Verdana"/>
                <a:ea typeface="Verdana"/>
                <a:cs typeface="Verdana"/>
                <a:sym typeface="Verdana"/>
              </a:rPr>
              <a:t>It is consists of all the elements of SEO you can control</a:t>
            </a:r>
            <a:endParaRPr/>
          </a:p>
          <a:p>
            <a:pPr indent="0" lvl="0" marL="0" rtl="0" algn="l">
              <a:lnSpc>
                <a:spcPct val="90000"/>
              </a:lnSpc>
              <a:spcBef>
                <a:spcPts val="1000"/>
              </a:spcBef>
              <a:spcAft>
                <a:spcPts val="0"/>
              </a:spcAft>
              <a:buClr>
                <a:srgbClr val="262626"/>
              </a:buClr>
              <a:buSzPct val="100000"/>
              <a:buNone/>
            </a:pPr>
            <a:r>
              <a:rPr b="1" lang="en-US" sz="2400">
                <a:solidFill>
                  <a:srgbClr val="262626"/>
                </a:solidFill>
                <a:latin typeface="Verdana"/>
                <a:ea typeface="Verdana"/>
                <a:cs typeface="Verdana"/>
                <a:sym typeface="Verdana"/>
              </a:rPr>
              <a:t>   best(99% Control).</a:t>
            </a:r>
            <a:endParaRPr/>
          </a:p>
          <a:p>
            <a:pPr indent="-90804" lvl="0" marL="22860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a:solidFill>
                <a:srgbClr val="262626"/>
              </a:solidFill>
            </a:endParaRPr>
          </a:p>
          <a:p>
            <a:pPr indent="0" lvl="0" marL="0" rtl="0" algn="l">
              <a:lnSpc>
                <a:spcPct val="90000"/>
              </a:lnSpc>
              <a:spcBef>
                <a:spcPts val="1000"/>
              </a:spcBef>
              <a:spcAft>
                <a:spcPts val="0"/>
              </a:spcAft>
              <a:buClr>
                <a:schemeClr val="dk1"/>
              </a:buClr>
              <a:buSzPct val="100000"/>
              <a:buNone/>
            </a:pPr>
            <a:r>
              <a:t/>
            </a:r>
            <a:endParaRPr b="1" sz="2600">
              <a:solidFill>
                <a:srgbClr val="262626"/>
              </a:solidFill>
              <a:latin typeface="Verdana"/>
              <a:ea typeface="Verdana"/>
              <a:cs typeface="Verdana"/>
              <a:sym typeface="Verdana"/>
            </a:endParaRPr>
          </a:p>
          <a:p>
            <a:pPr indent="0" lvl="0" marL="0" rtl="0" algn="l">
              <a:lnSpc>
                <a:spcPct val="90000"/>
              </a:lnSpc>
              <a:spcBef>
                <a:spcPts val="1000"/>
              </a:spcBef>
              <a:spcAft>
                <a:spcPts val="0"/>
              </a:spcAft>
              <a:buClr>
                <a:schemeClr val="dk1"/>
              </a:buClr>
              <a:buSzPct val="100000"/>
              <a:buNone/>
            </a:pPr>
            <a:r>
              <a:t/>
            </a:r>
            <a:endParaRPr b="1" sz="2600">
              <a:solidFill>
                <a:srgbClr val="262626"/>
              </a:solidFill>
              <a:latin typeface="Verdana"/>
              <a:ea typeface="Verdana"/>
              <a:cs typeface="Verdana"/>
              <a:sym typeface="Verdana"/>
            </a:endParaRPr>
          </a:p>
          <a:p>
            <a:pPr indent="0" lvl="0" marL="0" rtl="0" algn="l">
              <a:lnSpc>
                <a:spcPct val="90000"/>
              </a:lnSpc>
              <a:spcBef>
                <a:spcPts val="1000"/>
              </a:spcBef>
              <a:spcAft>
                <a:spcPts val="0"/>
              </a:spcAft>
              <a:buClr>
                <a:schemeClr val="dk1"/>
              </a:buClr>
              <a:buSzPct val="100000"/>
              <a:buNone/>
            </a:pPr>
            <a:r>
              <a:t/>
            </a:r>
            <a:endParaRPr b="1" sz="2600">
              <a:solidFill>
                <a:srgbClr val="262626"/>
              </a:solidFill>
              <a:latin typeface="Verdana"/>
              <a:ea typeface="Verdana"/>
              <a:cs typeface="Verdana"/>
              <a:sym typeface="Verdana"/>
            </a:endParaRPr>
          </a:p>
          <a:p>
            <a:pPr indent="0" lvl="0" marL="0" rtl="0" algn="l">
              <a:lnSpc>
                <a:spcPct val="90000"/>
              </a:lnSpc>
              <a:spcBef>
                <a:spcPts val="1000"/>
              </a:spcBef>
              <a:spcAft>
                <a:spcPts val="0"/>
              </a:spcAft>
              <a:buClr>
                <a:schemeClr val="dk1"/>
              </a:buClr>
              <a:buSzPct val="100000"/>
              <a:buNone/>
            </a:pPr>
            <a:r>
              <a:t/>
            </a:r>
            <a:endParaRPr b="1" sz="2600">
              <a:solidFill>
                <a:srgbClr val="262626"/>
              </a:solidFill>
              <a:latin typeface="Verdana"/>
              <a:ea typeface="Verdana"/>
              <a:cs typeface="Verdana"/>
              <a:sym typeface="Verdana"/>
            </a:endParaRPr>
          </a:p>
          <a:p>
            <a:pPr indent="0" lvl="0" marL="0" rtl="0" algn="l">
              <a:lnSpc>
                <a:spcPct val="90000"/>
              </a:lnSpc>
              <a:spcBef>
                <a:spcPts val="1000"/>
              </a:spcBef>
              <a:spcAft>
                <a:spcPts val="0"/>
              </a:spcAft>
              <a:buClr>
                <a:schemeClr val="dk1"/>
              </a:buClr>
              <a:buSzPct val="100000"/>
              <a:buNone/>
            </a:pPr>
            <a:r>
              <a:t/>
            </a:r>
            <a:endParaRPr b="1" sz="2600">
              <a:solidFill>
                <a:srgbClr val="262626"/>
              </a:solidFill>
              <a:latin typeface="Verdana"/>
              <a:ea typeface="Verdana"/>
              <a:cs typeface="Verdana"/>
              <a:sym typeface="Verdana"/>
            </a:endParaRPr>
          </a:p>
          <a:p>
            <a:pPr indent="0" lvl="0" marL="0" rtl="0" algn="l">
              <a:lnSpc>
                <a:spcPct val="90000"/>
              </a:lnSpc>
              <a:spcBef>
                <a:spcPts val="1000"/>
              </a:spcBef>
              <a:spcAft>
                <a:spcPts val="0"/>
              </a:spcAft>
              <a:buClr>
                <a:srgbClr val="262626"/>
              </a:buClr>
              <a:buSzPct val="100000"/>
              <a:buNone/>
            </a:pPr>
            <a:r>
              <a:rPr b="1" lang="en-US" sz="2600">
                <a:solidFill>
                  <a:srgbClr val="262626"/>
                </a:solidFill>
                <a:latin typeface="Verdana"/>
                <a:ea typeface="Verdana"/>
                <a:cs typeface="Verdana"/>
                <a:sym typeface="Verdana"/>
              </a:rPr>
              <a:t>On-page SEO should be done even if you rank #1 in the search results because SEO is an ongoing process.</a:t>
            </a:r>
            <a:endParaRPr/>
          </a:p>
          <a:p>
            <a:pPr indent="0" lvl="0" marL="0" rtl="0" algn="l">
              <a:lnSpc>
                <a:spcPct val="90000"/>
              </a:lnSpc>
              <a:spcBef>
                <a:spcPts val="1000"/>
              </a:spcBef>
              <a:spcAft>
                <a:spcPts val="0"/>
              </a:spcAft>
              <a:buClr>
                <a:srgbClr val="262626"/>
              </a:buClr>
              <a:buSzPct val="100000"/>
              <a:buNone/>
            </a:pPr>
            <a:r>
              <a:rPr b="1" lang="en-US" sz="2600">
                <a:solidFill>
                  <a:srgbClr val="262626"/>
                </a:solidFill>
                <a:latin typeface="Verdana"/>
                <a:ea typeface="Verdana"/>
                <a:cs typeface="Verdana"/>
                <a:sym typeface="Verdana"/>
              </a:rPr>
              <a:t>Ex: one time setup(https:, etc.)</a:t>
            </a:r>
            <a:endParaRPr/>
          </a:p>
          <a:p>
            <a:pPr indent="0" lvl="0" marL="0" rtl="0" algn="l">
              <a:lnSpc>
                <a:spcPct val="90000"/>
              </a:lnSpc>
              <a:spcBef>
                <a:spcPts val="1000"/>
              </a:spcBef>
              <a:spcAft>
                <a:spcPts val="0"/>
              </a:spcAft>
              <a:buClr>
                <a:srgbClr val="262626"/>
              </a:buClr>
              <a:buSzPct val="100000"/>
              <a:buNone/>
            </a:pPr>
            <a:r>
              <a:rPr b="1" lang="en-US" sz="2600">
                <a:solidFill>
                  <a:srgbClr val="262626"/>
                </a:solidFill>
                <a:latin typeface="Verdana"/>
                <a:ea typeface="Verdana"/>
                <a:cs typeface="Verdana"/>
                <a:sym typeface="Verdana"/>
              </a:rPr>
              <a:t>Ex: once in a while(title, description, etc.)</a:t>
            </a:r>
            <a:endParaRPr/>
          </a:p>
        </p:txBody>
      </p:sp>
      <p:sp>
        <p:nvSpPr>
          <p:cNvPr id="112" name="Google Shape;112;p6"/>
          <p:cNvSpPr txBox="1"/>
          <p:nvPr>
            <p:ph type="title"/>
          </p:nvPr>
        </p:nvSpPr>
        <p:spPr>
          <a:xfrm>
            <a:off x="838200" y="141665"/>
            <a:ext cx="3965620" cy="7212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On Page SEO</a:t>
            </a:r>
            <a:endParaRPr b="1" sz="4000">
              <a:solidFill>
                <a:srgbClr val="CC6600"/>
              </a:solidFill>
              <a:latin typeface="Verdana"/>
              <a:ea typeface="Verdana"/>
              <a:cs typeface="Verdana"/>
              <a:sym typeface="Verdana"/>
            </a:endParaRPr>
          </a:p>
        </p:txBody>
      </p:sp>
      <p:grpSp>
        <p:nvGrpSpPr>
          <p:cNvPr id="113" name="Google Shape;113;p6"/>
          <p:cNvGrpSpPr/>
          <p:nvPr/>
        </p:nvGrpSpPr>
        <p:grpSpPr>
          <a:xfrm>
            <a:off x="2367685" y="1746629"/>
            <a:ext cx="6205232" cy="3238855"/>
            <a:chOff x="155383" y="0"/>
            <a:chExt cx="6205232" cy="3238855"/>
          </a:xfrm>
        </p:grpSpPr>
        <p:sp>
          <p:nvSpPr>
            <p:cNvPr id="114" name="Google Shape;114;p6"/>
            <p:cNvSpPr/>
            <p:nvPr/>
          </p:nvSpPr>
          <p:spPr>
            <a:xfrm>
              <a:off x="3257999" y="1244177"/>
              <a:ext cx="1698717" cy="590780"/>
            </a:xfrm>
            <a:custGeom>
              <a:rect b="b" l="l" r="r" t="t"/>
              <a:pathLst>
                <a:path extrusionOk="0" h="120000" w="120000">
                  <a:moveTo>
                    <a:pt x="0" y="0"/>
                  </a:moveTo>
                  <a:lnTo>
                    <a:pt x="0" y="60116"/>
                  </a:lnTo>
                  <a:lnTo>
                    <a:pt x="120000" y="60116"/>
                  </a:lnTo>
                  <a:lnTo>
                    <a:pt x="120000" y="120000"/>
                  </a:lnTo>
                </a:path>
              </a:pathLst>
            </a:custGeom>
            <a:noFill/>
            <a:ln cap="flat" cmpd="sng" w="12700">
              <a:solidFill>
                <a:srgbClr val="487AA8"/>
              </a:solidFill>
              <a:prstDash val="solid"/>
              <a:miter lim="800000"/>
              <a:headEnd len="sm" w="sm" type="none"/>
              <a:tailEnd len="sm" w="sm" type="none"/>
            </a:ln>
          </p:spPr>
        </p:sp>
        <p:sp>
          <p:nvSpPr>
            <p:cNvPr id="115" name="Google Shape;115;p6"/>
            <p:cNvSpPr/>
            <p:nvPr/>
          </p:nvSpPr>
          <p:spPr>
            <a:xfrm>
              <a:off x="1559282" y="1244177"/>
              <a:ext cx="1698717" cy="590780"/>
            </a:xfrm>
            <a:custGeom>
              <a:rect b="b" l="l" r="r" t="t"/>
              <a:pathLst>
                <a:path extrusionOk="0" h="120000" w="120000">
                  <a:moveTo>
                    <a:pt x="120000" y="0"/>
                  </a:moveTo>
                  <a:lnTo>
                    <a:pt x="120000" y="60116"/>
                  </a:lnTo>
                  <a:lnTo>
                    <a:pt x="0" y="60116"/>
                  </a:lnTo>
                  <a:lnTo>
                    <a:pt x="0" y="120000"/>
                  </a:lnTo>
                </a:path>
              </a:pathLst>
            </a:custGeom>
            <a:noFill/>
            <a:ln cap="flat" cmpd="sng" w="12700">
              <a:solidFill>
                <a:srgbClr val="487AA8"/>
              </a:solidFill>
              <a:prstDash val="solid"/>
              <a:miter lim="800000"/>
              <a:headEnd len="sm" w="sm" type="none"/>
              <a:tailEnd len="sm" w="sm" type="none"/>
            </a:ln>
          </p:spPr>
        </p:sp>
        <p:sp>
          <p:nvSpPr>
            <p:cNvPr id="116" name="Google Shape;116;p6"/>
            <p:cNvSpPr/>
            <p:nvPr/>
          </p:nvSpPr>
          <p:spPr>
            <a:xfrm>
              <a:off x="1205387" y="0"/>
              <a:ext cx="4105225" cy="1244177"/>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txBox="1"/>
            <p:nvPr/>
          </p:nvSpPr>
          <p:spPr>
            <a:xfrm>
              <a:off x="1205387" y="0"/>
              <a:ext cx="4105225" cy="1244177"/>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1" i="0" lang="en-US" sz="3600" u="none" cap="none" strike="noStrike">
                  <a:solidFill>
                    <a:schemeClr val="lt1"/>
                  </a:solidFill>
                  <a:latin typeface="Verdana"/>
                  <a:ea typeface="Verdana"/>
                  <a:cs typeface="Verdana"/>
                  <a:sym typeface="Verdana"/>
                </a:rPr>
                <a:t>When to do?</a:t>
              </a:r>
              <a:endParaRPr b="1" i="0" sz="3600" u="none" cap="none" strike="noStrike">
                <a:solidFill>
                  <a:schemeClr val="lt1"/>
                </a:solidFill>
                <a:latin typeface="Verdana"/>
                <a:ea typeface="Verdana"/>
                <a:cs typeface="Verdana"/>
                <a:sym typeface="Verdana"/>
              </a:endParaRPr>
            </a:p>
          </p:txBody>
        </p:sp>
        <p:sp>
          <p:nvSpPr>
            <p:cNvPr id="118" name="Google Shape;118;p6"/>
            <p:cNvSpPr/>
            <p:nvPr/>
          </p:nvSpPr>
          <p:spPr>
            <a:xfrm>
              <a:off x="155383" y="1834957"/>
              <a:ext cx="2807797" cy="1403898"/>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txBox="1"/>
            <p:nvPr/>
          </p:nvSpPr>
          <p:spPr>
            <a:xfrm>
              <a:off x="155383" y="1834957"/>
              <a:ext cx="2807797" cy="1403898"/>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1" i="0" lang="en-US" sz="3600" u="none" cap="none" strike="noStrike">
                  <a:solidFill>
                    <a:schemeClr val="lt1"/>
                  </a:solidFill>
                  <a:latin typeface="Verdana"/>
                  <a:ea typeface="Verdana"/>
                  <a:cs typeface="Verdana"/>
                  <a:sym typeface="Verdana"/>
                </a:rPr>
                <a:t>One time Setup</a:t>
              </a:r>
              <a:endParaRPr b="1" i="0" sz="3600" u="none" cap="none" strike="noStrike">
                <a:solidFill>
                  <a:schemeClr val="lt1"/>
                </a:solidFill>
                <a:latin typeface="Verdana"/>
                <a:ea typeface="Verdana"/>
                <a:cs typeface="Verdana"/>
                <a:sym typeface="Verdana"/>
              </a:endParaRPr>
            </a:p>
          </p:txBody>
        </p:sp>
        <p:sp>
          <p:nvSpPr>
            <p:cNvPr id="120" name="Google Shape;120;p6"/>
            <p:cNvSpPr/>
            <p:nvPr/>
          </p:nvSpPr>
          <p:spPr>
            <a:xfrm>
              <a:off x="3552818" y="1834957"/>
              <a:ext cx="2807797" cy="1403898"/>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txBox="1"/>
            <p:nvPr/>
          </p:nvSpPr>
          <p:spPr>
            <a:xfrm>
              <a:off x="3552818" y="1834957"/>
              <a:ext cx="2807797" cy="1403898"/>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1" i="0" lang="en-US" sz="3600" u="none" cap="none" strike="noStrike">
                  <a:solidFill>
                    <a:schemeClr val="lt1"/>
                  </a:solidFill>
                  <a:latin typeface="Verdana"/>
                  <a:ea typeface="Verdana"/>
                  <a:cs typeface="Verdana"/>
                  <a:sym typeface="Verdana"/>
                </a:rPr>
                <a:t>Once in a while</a:t>
              </a:r>
              <a:endParaRPr b="1" i="0" sz="3600" u="none" cap="none" strike="noStrike">
                <a:solidFill>
                  <a:schemeClr val="lt1"/>
                </a:solidFill>
                <a:latin typeface="Verdana"/>
                <a:ea typeface="Verdana"/>
                <a:cs typeface="Verdana"/>
                <a:sym typeface="Verdan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7"/>
          <p:cNvPicPr preferRelativeResize="0"/>
          <p:nvPr/>
        </p:nvPicPr>
        <p:blipFill rotWithShape="1">
          <a:blip r:embed="rId3">
            <a:alphaModFix/>
          </a:blip>
          <a:srcRect b="0" l="0" r="0" t="0"/>
          <a:stretch/>
        </p:blipFill>
        <p:spPr>
          <a:xfrm>
            <a:off x="0" y="0"/>
            <a:ext cx="12192143" cy="6857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8"/>
          <p:cNvPicPr preferRelativeResize="0"/>
          <p:nvPr/>
        </p:nvPicPr>
        <p:blipFill rotWithShape="1">
          <a:blip r:embed="rId3">
            <a:alphaModFix/>
          </a:blip>
          <a:srcRect b="0" l="0" r="0" t="0"/>
          <a:stretch/>
        </p:blipFill>
        <p:spPr>
          <a:xfrm>
            <a:off x="-1" y="1"/>
            <a:ext cx="12192001" cy="5606716"/>
          </a:xfrm>
          <a:prstGeom prst="rect">
            <a:avLst/>
          </a:prstGeom>
          <a:noFill/>
          <a:ln>
            <a:noFill/>
          </a:ln>
        </p:spPr>
      </p:pic>
      <p:sp>
        <p:nvSpPr>
          <p:cNvPr id="132" name="Google Shape;132;p8"/>
          <p:cNvSpPr/>
          <p:nvPr/>
        </p:nvSpPr>
        <p:spPr>
          <a:xfrm>
            <a:off x="352697" y="4246460"/>
            <a:ext cx="5865223" cy="2599508"/>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sng" cap="none" strike="noStrike">
                <a:solidFill>
                  <a:srgbClr val="1E4E79"/>
                </a:solidFill>
                <a:latin typeface="Calibri"/>
                <a:ea typeface="Calibri"/>
                <a:cs typeface="Calibri"/>
                <a:sym typeface="Calibri"/>
                <a:hlinkClick r:id="rId4">
                  <a:extLst>
                    <a:ext uri="{A12FA001-AC4F-418D-AE19-62706E023703}">
                      <ahyp:hlinkClr val="tx"/>
                    </a:ext>
                  </a:extLst>
                </a:hlinkClick>
              </a:rPr>
              <a:t>https://ahrefs.com/</a:t>
            </a:r>
            <a:endParaRPr b="0" i="0" sz="3200" u="none" cap="none" strike="noStrike">
              <a:solidFill>
                <a:srgbClr val="1E4E79"/>
              </a:solidFill>
              <a:latin typeface="Calibri"/>
              <a:ea typeface="Calibri"/>
              <a:cs typeface="Calibri"/>
              <a:sym typeface="Calibri"/>
            </a:endParaRPr>
          </a:p>
          <a:p>
            <a:pPr indent="0" lvl="0" marL="0" marR="0" rtl="0" algn="ctr">
              <a:spcBef>
                <a:spcPts val="0"/>
              </a:spcBef>
              <a:spcAft>
                <a:spcPts val="0"/>
              </a:spcAft>
              <a:buNone/>
            </a:pPr>
            <a:r>
              <a:rPr b="0" i="0" lang="en-US" sz="3200" u="sng" cap="none" strike="noStrike">
                <a:solidFill>
                  <a:srgbClr val="1E4E79"/>
                </a:solidFill>
                <a:latin typeface="Calibri"/>
                <a:ea typeface="Calibri"/>
                <a:cs typeface="Calibri"/>
                <a:sym typeface="Calibri"/>
                <a:hlinkClick r:id="rId5">
                  <a:extLst>
                    <a:ext uri="{A12FA001-AC4F-418D-AE19-62706E023703}">
                      <ahyp:hlinkClr val="tx"/>
                    </a:ext>
                  </a:extLst>
                </a:hlinkClick>
              </a:rPr>
              <a:t>https://www.semrush.com/</a:t>
            </a:r>
            <a:endParaRPr b="0" i="0" sz="3200" u="none" cap="none" strike="noStrike">
              <a:solidFill>
                <a:srgbClr val="1E4E79"/>
              </a:solidFill>
              <a:latin typeface="Calibri"/>
              <a:ea typeface="Calibri"/>
              <a:cs typeface="Calibri"/>
              <a:sym typeface="Calibri"/>
            </a:endParaRPr>
          </a:p>
          <a:p>
            <a:pPr indent="0" lvl="0" marL="0" marR="0" rtl="0" algn="ctr">
              <a:spcBef>
                <a:spcPts val="0"/>
              </a:spcBef>
              <a:spcAft>
                <a:spcPts val="0"/>
              </a:spcAft>
              <a:buNone/>
            </a:pPr>
            <a:r>
              <a:rPr b="0" i="0" lang="en-US" sz="3200" u="sng" cap="none" strike="noStrike">
                <a:solidFill>
                  <a:srgbClr val="1E4E79"/>
                </a:solidFill>
                <a:latin typeface="Calibri"/>
                <a:ea typeface="Calibri"/>
                <a:cs typeface="Calibri"/>
                <a:sym typeface="Calibri"/>
                <a:hlinkClick r:id="rId6">
                  <a:extLst>
                    <a:ext uri="{A12FA001-AC4F-418D-AE19-62706E023703}">
                      <ahyp:hlinkClr val="tx"/>
                    </a:ext>
                  </a:extLst>
                </a:hlinkClick>
              </a:rPr>
              <a:t>https://moz.com</a:t>
            </a:r>
            <a:r>
              <a:rPr b="0" i="0" lang="en-US" sz="3200" u="sng" cap="none" strike="noStrike">
                <a:solidFill>
                  <a:srgbClr val="FFFF00"/>
                </a:solidFill>
                <a:latin typeface="Calibri"/>
                <a:ea typeface="Calibri"/>
                <a:cs typeface="Calibri"/>
                <a:sym typeface="Calibri"/>
                <a:hlinkClick r:id="rId7">
                  <a:extLst>
                    <a:ext uri="{A12FA001-AC4F-418D-AE19-62706E023703}">
                      <ahyp:hlinkClr val="tx"/>
                    </a:ext>
                  </a:extLst>
                </a:hlinkClick>
              </a:rPr>
              <a:t>/</a:t>
            </a:r>
            <a:endParaRPr b="0" i="0" sz="3200" u="none" cap="none" strike="noStrike">
              <a:solidFill>
                <a:srgbClr val="FFFF00"/>
              </a:solidFill>
              <a:latin typeface="Calibri"/>
              <a:ea typeface="Calibri"/>
              <a:cs typeface="Calibri"/>
              <a:sym typeface="Calibri"/>
            </a:endParaRPr>
          </a:p>
          <a:p>
            <a:pPr indent="0" lvl="0" marL="0" marR="0" rtl="0" algn="ctr">
              <a:spcBef>
                <a:spcPts val="0"/>
              </a:spcBef>
              <a:spcAft>
                <a:spcPts val="0"/>
              </a:spcAft>
              <a:buNone/>
            </a:pPr>
            <a:r>
              <a:rPr b="0" i="0" lang="en-US" sz="3200" u="none" cap="none" strike="noStrike">
                <a:solidFill>
                  <a:srgbClr val="FFFF00"/>
                </a:solidFill>
                <a:latin typeface="Calibri"/>
                <a:ea typeface="Calibri"/>
                <a:cs typeface="Calibri"/>
                <a:sym typeface="Calibri"/>
              </a:rPr>
              <a:t>Google Keyword Planner</a:t>
            </a:r>
            <a:endParaRPr b="0" i="0" sz="3200" u="none" cap="none" strike="noStrike">
              <a:solidFill>
                <a:srgbClr val="FFFF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838200" y="141665"/>
            <a:ext cx="6914882" cy="7212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Website audit</a:t>
            </a:r>
            <a:endParaRPr b="1" sz="4000">
              <a:solidFill>
                <a:srgbClr val="CC6600"/>
              </a:solidFill>
              <a:latin typeface="Verdana"/>
              <a:ea typeface="Verdana"/>
              <a:cs typeface="Verdana"/>
              <a:sym typeface="Verdana"/>
            </a:endParaRPr>
          </a:p>
        </p:txBody>
      </p:sp>
      <p:pic>
        <p:nvPicPr>
          <p:cNvPr id="138" name="Google Shape;138;p10"/>
          <p:cNvPicPr preferRelativeResize="0"/>
          <p:nvPr/>
        </p:nvPicPr>
        <p:blipFill rotWithShape="1">
          <a:blip r:embed="rId3">
            <a:alphaModFix/>
          </a:blip>
          <a:srcRect b="9474" l="0" r="0" t="0"/>
          <a:stretch/>
        </p:blipFill>
        <p:spPr>
          <a:xfrm>
            <a:off x="609600" y="862881"/>
            <a:ext cx="10972800" cy="548979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1"/>
          <p:cNvPicPr preferRelativeResize="0"/>
          <p:nvPr/>
        </p:nvPicPr>
        <p:blipFill rotWithShape="1">
          <a:blip r:embed="rId3">
            <a:alphaModFix/>
          </a:blip>
          <a:srcRect b="2010" l="8836" r="9089" t="1723"/>
          <a:stretch/>
        </p:blipFill>
        <p:spPr>
          <a:xfrm>
            <a:off x="832269" y="1090670"/>
            <a:ext cx="10527462" cy="4676660"/>
          </a:xfrm>
          <a:prstGeom prst="rect">
            <a:avLst/>
          </a:prstGeom>
          <a:noFill/>
          <a:ln>
            <a:noFill/>
          </a:ln>
        </p:spPr>
      </p:pic>
      <p:sp>
        <p:nvSpPr>
          <p:cNvPr id="144" name="Google Shape;144;p11"/>
          <p:cNvSpPr txBox="1"/>
          <p:nvPr>
            <p:ph type="title"/>
          </p:nvPr>
        </p:nvSpPr>
        <p:spPr>
          <a:xfrm>
            <a:off x="838200" y="141665"/>
            <a:ext cx="6914882" cy="7212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Website audit	</a:t>
            </a:r>
            <a:endParaRPr b="1" sz="4000">
              <a:solidFill>
                <a:srgbClr val="CC6600"/>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b="16139" l="0" r="0" t="0"/>
          <a:stretch/>
        </p:blipFill>
        <p:spPr>
          <a:xfrm>
            <a:off x="609600" y="965240"/>
            <a:ext cx="10972800" cy="5751095"/>
          </a:xfrm>
          <a:prstGeom prst="rect">
            <a:avLst/>
          </a:prstGeom>
          <a:noFill/>
          <a:ln cap="flat" cmpd="sng" w="9525">
            <a:solidFill>
              <a:schemeClr val="dk1"/>
            </a:solidFill>
            <a:prstDash val="solid"/>
            <a:round/>
            <a:headEnd len="sm" w="sm" type="none"/>
            <a:tailEnd len="sm" w="sm" type="none"/>
          </a:ln>
        </p:spPr>
      </p:pic>
      <p:sp>
        <p:nvSpPr>
          <p:cNvPr id="150" name="Google Shape;150;p12"/>
          <p:cNvSpPr txBox="1"/>
          <p:nvPr>
            <p:ph type="title"/>
          </p:nvPr>
        </p:nvSpPr>
        <p:spPr>
          <a:xfrm>
            <a:off x="838200" y="141665"/>
            <a:ext cx="6914882" cy="7212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Website audit</a:t>
            </a:r>
            <a:endParaRPr b="1" sz="4000">
              <a:solidFill>
                <a:srgbClr val="CC66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idx="1" type="body"/>
          </p:nvPr>
        </p:nvSpPr>
        <p:spPr>
          <a:xfrm>
            <a:off x="838200" y="1155925"/>
            <a:ext cx="10515600" cy="54380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CC6600"/>
              </a:buClr>
              <a:buSzPts val="2000"/>
              <a:buFont typeface="Noto Sans Symbols"/>
              <a:buChar char="❖"/>
            </a:pPr>
            <a:r>
              <a:rPr b="1" lang="en-US" sz="2000">
                <a:solidFill>
                  <a:srgbClr val="CC6600"/>
                </a:solidFill>
                <a:latin typeface="Verdana"/>
                <a:ea typeface="Verdana"/>
                <a:cs typeface="Verdana"/>
                <a:sym typeface="Verdana"/>
              </a:rPr>
              <a:t>Some of the On Page SEO factors, which do have direct or indirect ranking effects.</a:t>
            </a:r>
            <a:endParaRPr/>
          </a:p>
          <a:p>
            <a:pPr indent="-101600" lvl="0" marL="228600" rtl="0" algn="l">
              <a:lnSpc>
                <a:spcPct val="90000"/>
              </a:lnSpc>
              <a:spcBef>
                <a:spcPts val="1000"/>
              </a:spcBef>
              <a:spcAft>
                <a:spcPts val="0"/>
              </a:spcAft>
              <a:buClr>
                <a:schemeClr val="dk1"/>
              </a:buClr>
              <a:buSzPts val="2000"/>
              <a:buFont typeface="Noto Sans Symbols"/>
              <a:buNone/>
            </a:pPr>
            <a:r>
              <a:t/>
            </a:r>
            <a:endParaRPr b="1" sz="2000">
              <a:solidFill>
                <a:srgbClr val="CC6600"/>
              </a:solidFill>
              <a:latin typeface="Verdana"/>
              <a:ea typeface="Verdana"/>
              <a:cs typeface="Verdana"/>
              <a:sym typeface="Verdana"/>
            </a:endParaRPr>
          </a:p>
          <a:p>
            <a:pPr indent="0" lvl="0" marL="0" rtl="0" algn="l">
              <a:lnSpc>
                <a:spcPct val="90000"/>
              </a:lnSpc>
              <a:spcBef>
                <a:spcPts val="1000"/>
              </a:spcBef>
              <a:spcAft>
                <a:spcPts val="0"/>
              </a:spcAft>
              <a:buClr>
                <a:schemeClr val="dk1"/>
              </a:buClr>
              <a:buSzPts val="2000"/>
              <a:buNone/>
            </a:pPr>
            <a:r>
              <a:t/>
            </a:r>
            <a:endParaRPr b="1" sz="2000">
              <a:solidFill>
                <a:srgbClr val="CC6600"/>
              </a:solidFill>
              <a:latin typeface="Verdana"/>
              <a:ea typeface="Verdana"/>
              <a:cs typeface="Verdana"/>
              <a:sym typeface="Verdana"/>
            </a:endParaRPr>
          </a:p>
        </p:txBody>
      </p:sp>
      <p:sp>
        <p:nvSpPr>
          <p:cNvPr id="156" name="Google Shape;156;p13"/>
          <p:cNvSpPr txBox="1"/>
          <p:nvPr/>
        </p:nvSpPr>
        <p:spPr>
          <a:xfrm>
            <a:off x="838200" y="141665"/>
            <a:ext cx="6914882"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On-Page SEO Factors</a:t>
            </a:r>
            <a:endParaRPr b="1" sz="4000">
              <a:solidFill>
                <a:srgbClr val="CC6600"/>
              </a:solidFill>
              <a:latin typeface="Verdana"/>
              <a:ea typeface="Verdana"/>
              <a:cs typeface="Verdana"/>
              <a:sym typeface="Verdana"/>
            </a:endParaRPr>
          </a:p>
        </p:txBody>
      </p:sp>
      <p:sp>
        <p:nvSpPr>
          <p:cNvPr id="157" name="Google Shape;157;p13"/>
          <p:cNvSpPr/>
          <p:nvPr/>
        </p:nvSpPr>
        <p:spPr>
          <a:xfrm>
            <a:off x="1043189" y="1970467"/>
            <a:ext cx="4288665" cy="692295"/>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Website should be Crawlable</a:t>
            </a:r>
            <a:endParaRPr b="1" sz="2000">
              <a:solidFill>
                <a:schemeClr val="lt1"/>
              </a:solidFill>
              <a:latin typeface="Verdana"/>
              <a:ea typeface="Verdana"/>
              <a:cs typeface="Verdana"/>
              <a:sym typeface="Verdana"/>
            </a:endParaRPr>
          </a:p>
        </p:txBody>
      </p:sp>
      <p:sp>
        <p:nvSpPr>
          <p:cNvPr id="158" name="Google Shape;158;p13"/>
          <p:cNvSpPr/>
          <p:nvPr/>
        </p:nvSpPr>
        <p:spPr>
          <a:xfrm>
            <a:off x="6385775" y="1931831"/>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Image Optimization</a:t>
            </a:r>
            <a:endParaRPr b="1" sz="2000">
              <a:solidFill>
                <a:schemeClr val="lt1"/>
              </a:solidFill>
              <a:latin typeface="Verdana"/>
              <a:ea typeface="Verdana"/>
              <a:cs typeface="Verdana"/>
              <a:sym typeface="Verdana"/>
            </a:endParaRPr>
          </a:p>
        </p:txBody>
      </p:sp>
      <p:sp>
        <p:nvSpPr>
          <p:cNvPr id="159" name="Google Shape;159;p13"/>
          <p:cNvSpPr/>
          <p:nvPr/>
        </p:nvSpPr>
        <p:spPr>
          <a:xfrm>
            <a:off x="1043188" y="2765788"/>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User Friendly URL’s</a:t>
            </a:r>
            <a:endParaRPr b="1" sz="2000">
              <a:solidFill>
                <a:schemeClr val="lt1"/>
              </a:solidFill>
              <a:latin typeface="Verdana"/>
              <a:ea typeface="Verdana"/>
              <a:cs typeface="Verdana"/>
              <a:sym typeface="Verdana"/>
            </a:endParaRPr>
          </a:p>
        </p:txBody>
      </p:sp>
      <p:sp>
        <p:nvSpPr>
          <p:cNvPr id="160" name="Google Shape;160;p13"/>
          <p:cNvSpPr/>
          <p:nvPr/>
        </p:nvSpPr>
        <p:spPr>
          <a:xfrm>
            <a:off x="1043187" y="3561108"/>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Well Targeted Content</a:t>
            </a:r>
            <a:endParaRPr b="1" sz="2000">
              <a:solidFill>
                <a:schemeClr val="lt1"/>
              </a:solidFill>
              <a:latin typeface="Verdana"/>
              <a:ea typeface="Verdana"/>
              <a:cs typeface="Verdana"/>
              <a:sym typeface="Verdana"/>
            </a:endParaRPr>
          </a:p>
        </p:txBody>
      </p:sp>
      <p:sp>
        <p:nvSpPr>
          <p:cNvPr id="161" name="Google Shape;161;p13"/>
          <p:cNvSpPr/>
          <p:nvPr/>
        </p:nvSpPr>
        <p:spPr>
          <a:xfrm>
            <a:off x="1043186" y="4365941"/>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Keyword Optimization</a:t>
            </a:r>
            <a:endParaRPr b="1" sz="2000">
              <a:solidFill>
                <a:schemeClr val="lt1"/>
              </a:solidFill>
              <a:latin typeface="Verdana"/>
              <a:ea typeface="Verdana"/>
              <a:cs typeface="Verdana"/>
              <a:sym typeface="Verdana"/>
            </a:endParaRPr>
          </a:p>
        </p:txBody>
      </p:sp>
      <p:sp>
        <p:nvSpPr>
          <p:cNvPr id="162" name="Google Shape;162;p13"/>
          <p:cNvSpPr/>
          <p:nvPr/>
        </p:nvSpPr>
        <p:spPr>
          <a:xfrm>
            <a:off x="1043185" y="5167606"/>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HTTPs</a:t>
            </a:r>
            <a:endParaRPr b="1" sz="2000">
              <a:solidFill>
                <a:schemeClr val="lt1"/>
              </a:solidFill>
              <a:latin typeface="Verdana"/>
              <a:ea typeface="Verdana"/>
              <a:cs typeface="Verdana"/>
              <a:sym typeface="Verdana"/>
            </a:endParaRPr>
          </a:p>
        </p:txBody>
      </p:sp>
      <p:sp>
        <p:nvSpPr>
          <p:cNvPr id="163" name="Google Shape;163;p13"/>
          <p:cNvSpPr/>
          <p:nvPr/>
        </p:nvSpPr>
        <p:spPr>
          <a:xfrm>
            <a:off x="6396506" y="2715298"/>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CTR</a:t>
            </a:r>
            <a:endParaRPr b="1" sz="2000">
              <a:solidFill>
                <a:schemeClr val="lt1"/>
              </a:solidFill>
              <a:latin typeface="Verdana"/>
              <a:ea typeface="Verdana"/>
              <a:cs typeface="Verdana"/>
              <a:sym typeface="Verdana"/>
            </a:endParaRPr>
          </a:p>
        </p:txBody>
      </p:sp>
      <p:sp>
        <p:nvSpPr>
          <p:cNvPr id="164" name="Google Shape;164;p13"/>
          <p:cNvSpPr/>
          <p:nvPr/>
        </p:nvSpPr>
        <p:spPr>
          <a:xfrm>
            <a:off x="6420116" y="3588922"/>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Mobile Responsive</a:t>
            </a:r>
            <a:endParaRPr b="1" sz="2000">
              <a:solidFill>
                <a:schemeClr val="lt1"/>
              </a:solidFill>
              <a:latin typeface="Verdana"/>
              <a:ea typeface="Verdana"/>
              <a:cs typeface="Verdana"/>
              <a:sym typeface="Verdana"/>
            </a:endParaRPr>
          </a:p>
        </p:txBody>
      </p:sp>
      <p:sp>
        <p:nvSpPr>
          <p:cNvPr id="165" name="Google Shape;165;p13"/>
          <p:cNvSpPr/>
          <p:nvPr/>
        </p:nvSpPr>
        <p:spPr>
          <a:xfrm>
            <a:off x="6430847" y="4372386"/>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Readability &amp; UX</a:t>
            </a:r>
            <a:endParaRPr b="1" sz="2000">
              <a:solidFill>
                <a:schemeClr val="lt1"/>
              </a:solidFill>
              <a:latin typeface="Verdana"/>
              <a:ea typeface="Verdana"/>
              <a:cs typeface="Verdana"/>
              <a:sym typeface="Verdana"/>
            </a:endParaRPr>
          </a:p>
        </p:txBody>
      </p:sp>
      <p:sp>
        <p:nvSpPr>
          <p:cNvPr id="166" name="Google Shape;166;p13"/>
          <p:cNvSpPr/>
          <p:nvPr/>
        </p:nvSpPr>
        <p:spPr>
          <a:xfrm>
            <a:off x="6441578" y="5168735"/>
            <a:ext cx="4288665" cy="528034"/>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Website Structure</a:t>
            </a:r>
            <a:endParaRPr b="1" sz="2000">
              <a:solidFill>
                <a:schemeClr val="lt1"/>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ph idx="1" type="body"/>
          </p:nvPr>
        </p:nvSpPr>
        <p:spPr>
          <a:xfrm>
            <a:off x="838200" y="1155925"/>
            <a:ext cx="10515600" cy="54380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t/>
            </a:r>
            <a:endParaRPr b="1" sz="2000">
              <a:solidFill>
                <a:srgbClr val="CC6600"/>
              </a:solidFill>
              <a:latin typeface="Verdana"/>
              <a:ea typeface="Verdana"/>
              <a:cs typeface="Verdana"/>
              <a:sym typeface="Verdana"/>
            </a:endParaRPr>
          </a:p>
          <a:p>
            <a:pPr indent="0" lvl="0" marL="0" rtl="0" algn="l">
              <a:lnSpc>
                <a:spcPct val="90000"/>
              </a:lnSpc>
              <a:spcBef>
                <a:spcPts val="1000"/>
              </a:spcBef>
              <a:spcAft>
                <a:spcPts val="0"/>
              </a:spcAft>
              <a:buClr>
                <a:schemeClr val="dk1"/>
              </a:buClr>
              <a:buSzPts val="2000"/>
              <a:buNone/>
            </a:pPr>
            <a:r>
              <a:t/>
            </a:r>
            <a:endParaRPr b="1" sz="2000">
              <a:solidFill>
                <a:srgbClr val="CC6600"/>
              </a:solidFill>
              <a:latin typeface="Verdana"/>
              <a:ea typeface="Verdana"/>
              <a:cs typeface="Verdana"/>
              <a:sym typeface="Verdana"/>
            </a:endParaRPr>
          </a:p>
        </p:txBody>
      </p:sp>
      <p:sp>
        <p:nvSpPr>
          <p:cNvPr id="172" name="Google Shape;172;p14"/>
          <p:cNvSpPr txBox="1"/>
          <p:nvPr/>
        </p:nvSpPr>
        <p:spPr>
          <a:xfrm>
            <a:off x="838199" y="141665"/>
            <a:ext cx="7378521" cy="721216"/>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l">
              <a:lnSpc>
                <a:spcPct val="90000"/>
              </a:lnSpc>
              <a:spcBef>
                <a:spcPts val="0"/>
              </a:spcBef>
              <a:spcAft>
                <a:spcPts val="0"/>
              </a:spcAft>
              <a:buClr>
                <a:srgbClr val="CC6600"/>
              </a:buClr>
              <a:buSzPct val="100000"/>
              <a:buFont typeface="Verdana"/>
              <a:buNone/>
            </a:pPr>
            <a:r>
              <a:rPr b="1" lang="en-US" sz="4000">
                <a:solidFill>
                  <a:srgbClr val="CC6600"/>
                </a:solidFill>
                <a:latin typeface="Verdana"/>
                <a:ea typeface="Verdana"/>
                <a:cs typeface="Verdana"/>
                <a:sym typeface="Verdana"/>
              </a:rPr>
              <a:t>Some On-Page SEO Factors</a:t>
            </a:r>
            <a:endParaRPr b="1" sz="4000">
              <a:solidFill>
                <a:srgbClr val="CC6600"/>
              </a:solidFill>
              <a:latin typeface="Verdana"/>
              <a:ea typeface="Verdana"/>
              <a:cs typeface="Verdana"/>
              <a:sym typeface="Verdana"/>
            </a:endParaRPr>
          </a:p>
        </p:txBody>
      </p:sp>
      <p:sp>
        <p:nvSpPr>
          <p:cNvPr id="173" name="Google Shape;173;p14"/>
          <p:cNvSpPr/>
          <p:nvPr/>
        </p:nvSpPr>
        <p:spPr>
          <a:xfrm>
            <a:off x="838199" y="1521734"/>
            <a:ext cx="6480000" cy="540000"/>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Meta Title</a:t>
            </a:r>
            <a:endParaRPr b="1" sz="2000">
              <a:solidFill>
                <a:schemeClr val="lt1"/>
              </a:solidFill>
              <a:latin typeface="Verdana"/>
              <a:ea typeface="Verdana"/>
              <a:cs typeface="Verdana"/>
              <a:sym typeface="Verdana"/>
            </a:endParaRPr>
          </a:p>
        </p:txBody>
      </p:sp>
      <p:sp>
        <p:nvSpPr>
          <p:cNvPr id="174" name="Google Shape;174;p14"/>
          <p:cNvSpPr/>
          <p:nvPr/>
        </p:nvSpPr>
        <p:spPr>
          <a:xfrm>
            <a:off x="838199" y="2626565"/>
            <a:ext cx="6480000" cy="540000"/>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Meta Description</a:t>
            </a:r>
            <a:endParaRPr b="1" sz="2000">
              <a:solidFill>
                <a:schemeClr val="lt1"/>
              </a:solidFill>
              <a:latin typeface="Verdana"/>
              <a:ea typeface="Verdana"/>
              <a:cs typeface="Verdana"/>
              <a:sym typeface="Verdana"/>
            </a:endParaRPr>
          </a:p>
        </p:txBody>
      </p:sp>
      <p:sp>
        <p:nvSpPr>
          <p:cNvPr id="175" name="Google Shape;175;p14"/>
          <p:cNvSpPr/>
          <p:nvPr/>
        </p:nvSpPr>
        <p:spPr>
          <a:xfrm>
            <a:off x="838199" y="3726617"/>
            <a:ext cx="6480000" cy="540000"/>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H1 Tag</a:t>
            </a:r>
            <a:endParaRPr b="1" sz="2000">
              <a:solidFill>
                <a:schemeClr val="lt1"/>
              </a:solidFill>
              <a:latin typeface="Verdana"/>
              <a:ea typeface="Verdana"/>
              <a:cs typeface="Verdana"/>
              <a:sym typeface="Verdana"/>
            </a:endParaRPr>
          </a:p>
        </p:txBody>
      </p:sp>
      <p:sp>
        <p:nvSpPr>
          <p:cNvPr id="176" name="Google Shape;176;p14"/>
          <p:cNvSpPr/>
          <p:nvPr/>
        </p:nvSpPr>
        <p:spPr>
          <a:xfrm>
            <a:off x="838199" y="4815539"/>
            <a:ext cx="6480000" cy="540000"/>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Verdana"/>
                <a:ea typeface="Verdana"/>
                <a:cs typeface="Verdana"/>
                <a:sym typeface="Verdana"/>
              </a:rPr>
              <a:t>Alt Tag</a:t>
            </a:r>
            <a:endParaRPr b="1" sz="2000">
              <a:solidFill>
                <a:schemeClr val="lt1"/>
              </a:solidFill>
              <a:latin typeface="Verdana"/>
              <a:ea typeface="Verdana"/>
              <a:cs typeface="Verdana"/>
              <a:sym typeface="Verdana"/>
            </a:endParaRPr>
          </a:p>
        </p:txBody>
      </p:sp>
      <p:grpSp>
        <p:nvGrpSpPr>
          <p:cNvPr id="177" name="Google Shape;177;p14"/>
          <p:cNvGrpSpPr/>
          <p:nvPr/>
        </p:nvGrpSpPr>
        <p:grpSpPr>
          <a:xfrm>
            <a:off x="7318199" y="1847548"/>
            <a:ext cx="2373154" cy="960519"/>
            <a:chOff x="7318199" y="1441858"/>
            <a:chExt cx="2373154" cy="960519"/>
          </a:xfrm>
        </p:grpSpPr>
        <p:cxnSp>
          <p:nvCxnSpPr>
            <p:cNvPr id="178" name="Google Shape;178;p14"/>
            <p:cNvCxnSpPr/>
            <p:nvPr/>
          </p:nvCxnSpPr>
          <p:spPr>
            <a:xfrm>
              <a:off x="7318199" y="1532586"/>
              <a:ext cx="409125" cy="0"/>
            </a:xfrm>
            <a:prstGeom prst="straightConnector1">
              <a:avLst/>
            </a:prstGeom>
            <a:noFill/>
            <a:ln cap="flat" cmpd="sng" w="9525">
              <a:solidFill>
                <a:schemeClr val="accent1"/>
              </a:solidFill>
              <a:prstDash val="solid"/>
              <a:miter lim="800000"/>
              <a:headEnd len="sm" w="sm" type="none"/>
              <a:tailEnd len="sm" w="sm" type="none"/>
            </a:ln>
          </p:spPr>
        </p:cxnSp>
        <p:cxnSp>
          <p:nvCxnSpPr>
            <p:cNvPr id="179" name="Google Shape;179;p14"/>
            <p:cNvCxnSpPr/>
            <p:nvPr/>
          </p:nvCxnSpPr>
          <p:spPr>
            <a:xfrm>
              <a:off x="7727324" y="1551100"/>
              <a:ext cx="0" cy="720000"/>
            </a:xfrm>
            <a:prstGeom prst="straightConnector1">
              <a:avLst/>
            </a:prstGeom>
            <a:noFill/>
            <a:ln cap="flat" cmpd="sng" w="9525">
              <a:solidFill>
                <a:schemeClr val="accent1"/>
              </a:solidFill>
              <a:prstDash val="solid"/>
              <a:miter lim="800000"/>
              <a:headEnd len="sm" w="sm" type="none"/>
              <a:tailEnd len="sm" w="sm" type="none"/>
            </a:ln>
          </p:spPr>
        </p:cxnSp>
        <p:cxnSp>
          <p:nvCxnSpPr>
            <p:cNvPr id="180" name="Google Shape;180;p14"/>
            <p:cNvCxnSpPr/>
            <p:nvPr/>
          </p:nvCxnSpPr>
          <p:spPr>
            <a:xfrm rot="10800000">
              <a:off x="7318200" y="2279560"/>
              <a:ext cx="409124" cy="0"/>
            </a:xfrm>
            <a:prstGeom prst="straightConnector1">
              <a:avLst/>
            </a:prstGeom>
            <a:noFill/>
            <a:ln cap="flat" cmpd="sng" w="9525">
              <a:solidFill>
                <a:schemeClr val="accent1"/>
              </a:solidFill>
              <a:prstDash val="solid"/>
              <a:miter lim="800000"/>
              <a:headEnd len="sm" w="sm" type="none"/>
              <a:tailEnd len="sm" w="sm" type="none"/>
            </a:ln>
          </p:spPr>
        </p:cxnSp>
        <p:cxnSp>
          <p:nvCxnSpPr>
            <p:cNvPr id="181" name="Google Shape;181;p14"/>
            <p:cNvCxnSpPr/>
            <p:nvPr/>
          </p:nvCxnSpPr>
          <p:spPr>
            <a:xfrm rot="10800000">
              <a:off x="7727324" y="2012706"/>
              <a:ext cx="409124" cy="0"/>
            </a:xfrm>
            <a:prstGeom prst="straightConnector1">
              <a:avLst/>
            </a:prstGeom>
            <a:noFill/>
            <a:ln cap="flat" cmpd="sng" w="9525">
              <a:solidFill>
                <a:schemeClr val="accent1"/>
              </a:solidFill>
              <a:prstDash val="solid"/>
              <a:miter lim="800000"/>
              <a:headEnd len="sm" w="sm" type="none"/>
              <a:tailEnd len="sm" w="sm" type="none"/>
            </a:ln>
          </p:spPr>
        </p:cxnSp>
        <p:sp>
          <p:nvSpPr>
            <p:cNvPr id="182" name="Google Shape;182;p14"/>
            <p:cNvSpPr/>
            <p:nvPr/>
          </p:nvSpPr>
          <p:spPr>
            <a:xfrm>
              <a:off x="8133008" y="1441858"/>
              <a:ext cx="1558345" cy="960519"/>
            </a:xfrm>
            <a:prstGeom prst="wedgeEllipseCallout">
              <a:avLst>
                <a:gd fmla="val -20833" name="adj1"/>
                <a:gd fmla="val 62500" name="adj2"/>
              </a:avLst>
            </a:prstGeom>
            <a:solidFill>
              <a:srgbClr val="FFFFCC"/>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Direct Ranking</a:t>
              </a:r>
              <a:endParaRPr sz="2000">
                <a:solidFill>
                  <a:schemeClr val="dk1"/>
                </a:solidFill>
                <a:latin typeface="Calibri"/>
                <a:ea typeface="Calibri"/>
                <a:cs typeface="Calibri"/>
                <a:sym typeface="Calibri"/>
              </a:endParaRPr>
            </a:p>
          </p:txBody>
        </p:sp>
      </p:grpSp>
      <p:grpSp>
        <p:nvGrpSpPr>
          <p:cNvPr id="183" name="Google Shape;183;p14"/>
          <p:cNvGrpSpPr/>
          <p:nvPr/>
        </p:nvGrpSpPr>
        <p:grpSpPr>
          <a:xfrm>
            <a:off x="7318199" y="3566999"/>
            <a:ext cx="1961029" cy="960519"/>
            <a:chOff x="7318199" y="2640561"/>
            <a:chExt cx="1961029" cy="960519"/>
          </a:xfrm>
        </p:grpSpPr>
        <p:cxnSp>
          <p:nvCxnSpPr>
            <p:cNvPr id="184" name="Google Shape;184;p14"/>
            <p:cNvCxnSpPr/>
            <p:nvPr/>
          </p:nvCxnSpPr>
          <p:spPr>
            <a:xfrm>
              <a:off x="7318199" y="3066143"/>
              <a:ext cx="409125" cy="0"/>
            </a:xfrm>
            <a:prstGeom prst="straightConnector1">
              <a:avLst/>
            </a:prstGeom>
            <a:noFill/>
            <a:ln cap="flat" cmpd="sng" w="9525">
              <a:solidFill>
                <a:schemeClr val="accent1"/>
              </a:solidFill>
              <a:prstDash val="solid"/>
              <a:miter lim="800000"/>
              <a:headEnd len="sm" w="sm" type="none"/>
              <a:tailEnd len="sm" w="sm" type="none"/>
            </a:ln>
          </p:spPr>
        </p:cxnSp>
        <p:sp>
          <p:nvSpPr>
            <p:cNvPr id="185" name="Google Shape;185;p14"/>
            <p:cNvSpPr/>
            <p:nvPr/>
          </p:nvSpPr>
          <p:spPr>
            <a:xfrm>
              <a:off x="7720883" y="2640561"/>
              <a:ext cx="1558345" cy="960519"/>
            </a:xfrm>
            <a:prstGeom prst="wedgeEllipseCallout">
              <a:avLst>
                <a:gd fmla="val -20833" name="adj1"/>
                <a:gd fmla="val 62500" name="adj2"/>
              </a:avLst>
            </a:prstGeom>
            <a:solidFill>
              <a:srgbClr val="FFFFCC"/>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Indirect Ranking</a:t>
              </a:r>
              <a:endParaRPr sz="2000">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txBox="1"/>
          <p:nvPr/>
        </p:nvSpPr>
        <p:spPr>
          <a:xfrm>
            <a:off x="838199" y="141665"/>
            <a:ext cx="7378521"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Meta Title &amp; Description</a:t>
            </a:r>
            <a:endParaRPr b="1" sz="4000">
              <a:solidFill>
                <a:srgbClr val="CC6600"/>
              </a:solidFill>
              <a:latin typeface="Verdana"/>
              <a:ea typeface="Verdana"/>
              <a:cs typeface="Verdana"/>
              <a:sym typeface="Verdana"/>
            </a:endParaRPr>
          </a:p>
        </p:txBody>
      </p:sp>
      <p:sp>
        <p:nvSpPr>
          <p:cNvPr id="191" name="Google Shape;191;p15"/>
          <p:cNvSpPr/>
          <p:nvPr/>
        </p:nvSpPr>
        <p:spPr>
          <a:xfrm>
            <a:off x="386366" y="3724533"/>
            <a:ext cx="11187448" cy="290486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Ex: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&lt;title&gt;Learn Online Digital Marketing | 25+ Modules | Raj&lt;/title&gt;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&lt;meta name=“description” content=“Want to Learn Online Digital Marketing? Raj is Online Digital Marketing Training platform. Become Master in SEO, SMM &amp; SEM Today.”&gt;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&lt;/head&gt;</a:t>
            </a:r>
            <a:endParaRPr sz="2400">
              <a:solidFill>
                <a:schemeClr val="dk1"/>
              </a:solidFill>
              <a:latin typeface="Calibri"/>
              <a:ea typeface="Calibri"/>
              <a:cs typeface="Calibri"/>
              <a:sym typeface="Calibri"/>
            </a:endParaRPr>
          </a:p>
        </p:txBody>
      </p:sp>
      <p:sp>
        <p:nvSpPr>
          <p:cNvPr id="192" name="Google Shape;192;p15"/>
          <p:cNvSpPr/>
          <p:nvPr/>
        </p:nvSpPr>
        <p:spPr>
          <a:xfrm>
            <a:off x="386366" y="1313645"/>
            <a:ext cx="11187448" cy="2343955"/>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Title tag:</a:t>
            </a:r>
            <a:r>
              <a:rPr lang="en-US" sz="2400">
                <a:solidFill>
                  <a:schemeClr val="dk1"/>
                </a:solidFill>
                <a:latin typeface="Calibri"/>
                <a:ea typeface="Calibri"/>
                <a:cs typeface="Calibri"/>
                <a:sym typeface="Calibri"/>
              </a:rPr>
              <a:t> It is the title text which appears in search engine listings on the title bar of the browser window.</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Meta description tag:</a:t>
            </a:r>
            <a:r>
              <a:rPr lang="en-US" sz="2400">
                <a:solidFill>
                  <a:schemeClr val="dk1"/>
                </a:solidFill>
                <a:latin typeface="Calibri"/>
                <a:ea typeface="Calibri"/>
                <a:cs typeface="Calibri"/>
                <a:sym typeface="Calibri"/>
              </a:rPr>
              <a:t> It is the brief summary of the content of your page. It appears below the URL of your page in search engine listings.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6"/>
          <p:cNvSpPr txBox="1"/>
          <p:nvPr/>
        </p:nvSpPr>
        <p:spPr>
          <a:xfrm>
            <a:off x="838199" y="141665"/>
            <a:ext cx="7378521"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Meta Title &amp; Description</a:t>
            </a:r>
            <a:endParaRPr b="1" sz="4000">
              <a:solidFill>
                <a:srgbClr val="CC6600"/>
              </a:solidFill>
              <a:latin typeface="Verdana"/>
              <a:ea typeface="Verdana"/>
              <a:cs typeface="Verdana"/>
              <a:sym typeface="Verdana"/>
            </a:endParaRPr>
          </a:p>
        </p:txBody>
      </p:sp>
      <p:sp>
        <p:nvSpPr>
          <p:cNvPr id="198" name="Google Shape;198;p16"/>
          <p:cNvSpPr txBox="1"/>
          <p:nvPr/>
        </p:nvSpPr>
        <p:spPr>
          <a:xfrm>
            <a:off x="1546100" y="960325"/>
            <a:ext cx="779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https://mangools.com/free-seo-tools/serp-simulator</a:t>
            </a:r>
            <a:endParaRPr/>
          </a:p>
        </p:txBody>
      </p:sp>
      <p:pic>
        <p:nvPicPr>
          <p:cNvPr id="199" name="Google Shape;199;p16" title="Screenshot (17).png"/>
          <p:cNvPicPr preferRelativeResize="0"/>
          <p:nvPr/>
        </p:nvPicPr>
        <p:blipFill>
          <a:blip r:embed="rId3">
            <a:alphaModFix/>
          </a:blip>
          <a:stretch>
            <a:fillRect/>
          </a:stretch>
        </p:blipFill>
        <p:spPr>
          <a:xfrm>
            <a:off x="1132100" y="1457975"/>
            <a:ext cx="10370167" cy="51926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nvSpPr>
        <p:spPr>
          <a:xfrm>
            <a:off x="838199" y="141665"/>
            <a:ext cx="7378521"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C6600"/>
              </a:buClr>
              <a:buSzPts val="4000"/>
              <a:buFont typeface="Verdana"/>
              <a:buNone/>
            </a:pPr>
            <a:r>
              <a:rPr b="1" lang="en-US" sz="4000">
                <a:solidFill>
                  <a:srgbClr val="CC6600"/>
                </a:solidFill>
                <a:latin typeface="Verdana"/>
                <a:ea typeface="Verdana"/>
                <a:cs typeface="Verdana"/>
                <a:sym typeface="Verdana"/>
              </a:rPr>
              <a:t>Mobile Friendly Website</a:t>
            </a:r>
            <a:endParaRPr b="1" sz="4000">
              <a:solidFill>
                <a:srgbClr val="CC6600"/>
              </a:solidFill>
              <a:latin typeface="Verdana"/>
              <a:ea typeface="Verdana"/>
              <a:cs typeface="Verdana"/>
              <a:sym typeface="Verdana"/>
            </a:endParaRPr>
          </a:p>
        </p:txBody>
      </p:sp>
      <p:sp>
        <p:nvSpPr>
          <p:cNvPr id="205" name="Google Shape;205;p17"/>
          <p:cNvSpPr/>
          <p:nvPr/>
        </p:nvSpPr>
        <p:spPr>
          <a:xfrm>
            <a:off x="2975856" y="1115088"/>
            <a:ext cx="59006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https://www.bing.com/webmaster/tools/mobile-friendliness</a:t>
            </a:r>
            <a:endParaRPr/>
          </a:p>
        </p:txBody>
      </p:sp>
      <p:pic>
        <p:nvPicPr>
          <p:cNvPr id="206" name="Google Shape;206;p17"/>
          <p:cNvPicPr preferRelativeResize="0"/>
          <p:nvPr/>
        </p:nvPicPr>
        <p:blipFill rotWithShape="1">
          <a:blip r:embed="rId3">
            <a:alphaModFix/>
          </a:blip>
          <a:srcRect b="11327" l="778" r="-778" t="5053"/>
          <a:stretch/>
        </p:blipFill>
        <p:spPr>
          <a:xfrm>
            <a:off x="1071157" y="1750421"/>
            <a:ext cx="10058400" cy="472875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8"/>
          <p:cNvPicPr preferRelativeResize="0"/>
          <p:nvPr/>
        </p:nvPicPr>
        <p:blipFill rotWithShape="1">
          <a:blip r:embed="rId3">
            <a:alphaModFix/>
          </a:blip>
          <a:srcRect b="0" l="9628" r="2094" t="17975"/>
          <a:stretch/>
        </p:blipFill>
        <p:spPr>
          <a:xfrm>
            <a:off x="149149" y="2229907"/>
            <a:ext cx="7145035" cy="4531839"/>
          </a:xfrm>
          <a:prstGeom prst="rect">
            <a:avLst/>
          </a:prstGeom>
          <a:noFill/>
          <a:ln cap="flat" cmpd="sng" w="9525">
            <a:solidFill>
              <a:schemeClr val="dk1"/>
            </a:solidFill>
            <a:prstDash val="solid"/>
            <a:round/>
            <a:headEnd len="sm" w="sm" type="none"/>
            <a:tailEnd len="sm" w="sm" type="none"/>
          </a:ln>
        </p:spPr>
      </p:pic>
      <p:sp>
        <p:nvSpPr>
          <p:cNvPr id="212" name="Google Shape;212;p18"/>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301 &amp; 302 Redirection</a:t>
            </a:r>
            <a:endParaRPr/>
          </a:p>
        </p:txBody>
      </p:sp>
      <p:pic>
        <p:nvPicPr>
          <p:cNvPr id="213" name="Google Shape;213;p18"/>
          <p:cNvPicPr preferRelativeResize="0"/>
          <p:nvPr/>
        </p:nvPicPr>
        <p:blipFill rotWithShape="1">
          <a:blip r:embed="rId4">
            <a:alphaModFix/>
          </a:blip>
          <a:srcRect b="0" l="0" r="0" t="0"/>
          <a:stretch/>
        </p:blipFill>
        <p:spPr>
          <a:xfrm>
            <a:off x="7401709" y="2229906"/>
            <a:ext cx="4641142" cy="4531839"/>
          </a:xfrm>
          <a:prstGeom prst="rect">
            <a:avLst/>
          </a:prstGeom>
          <a:noFill/>
          <a:ln cap="flat" cmpd="sng" w="9525">
            <a:solidFill>
              <a:schemeClr val="dk1"/>
            </a:solidFill>
            <a:prstDash val="solid"/>
            <a:round/>
            <a:headEnd len="sm" w="sm" type="none"/>
            <a:tailEnd len="sm" w="sm" type="none"/>
          </a:ln>
        </p:spPr>
      </p:pic>
      <p:sp>
        <p:nvSpPr>
          <p:cNvPr id="214" name="Google Shape;214;p18"/>
          <p:cNvSpPr txBox="1"/>
          <p:nvPr/>
        </p:nvSpPr>
        <p:spPr>
          <a:xfrm>
            <a:off x="149149" y="953030"/>
            <a:ext cx="1204285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6600"/>
                </a:solidFill>
                <a:latin typeface="Calibri"/>
                <a:ea typeface="Calibri"/>
                <a:cs typeface="Calibri"/>
                <a:sym typeface="Calibri"/>
              </a:rPr>
              <a:t>A 301 redirect indicates that a page has permanently moved to a new location.</a:t>
            </a:r>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a 302 redirect says that the page has moved to a new location, but that it is only temporary.</a:t>
            </a:r>
            <a:endParaRPr sz="2400">
              <a:solidFill>
                <a:srgbClr val="CC66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19"/>
          <p:cNvPicPr preferRelativeResize="0"/>
          <p:nvPr/>
        </p:nvPicPr>
        <p:blipFill rotWithShape="1">
          <a:blip r:embed="rId3">
            <a:alphaModFix/>
          </a:blip>
          <a:srcRect b="9888" l="0" r="0" t="0"/>
          <a:stretch/>
        </p:blipFill>
        <p:spPr>
          <a:xfrm>
            <a:off x="1014914" y="953031"/>
            <a:ext cx="9765380" cy="4593528"/>
          </a:xfrm>
          <a:prstGeom prst="rect">
            <a:avLst/>
          </a:prstGeom>
          <a:noFill/>
          <a:ln>
            <a:noFill/>
          </a:ln>
        </p:spPr>
      </p:pic>
      <p:sp>
        <p:nvSpPr>
          <p:cNvPr id="220" name="Google Shape;220;p19"/>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301 &amp; 302 Redirection</a:t>
            </a:r>
            <a:endParaRPr/>
          </a:p>
        </p:txBody>
      </p:sp>
      <p:pic>
        <p:nvPicPr>
          <p:cNvPr id="221" name="Google Shape;221;p19"/>
          <p:cNvPicPr preferRelativeResize="0"/>
          <p:nvPr/>
        </p:nvPicPr>
        <p:blipFill rotWithShape="1">
          <a:blip r:embed="rId4">
            <a:alphaModFix/>
          </a:blip>
          <a:srcRect b="85033" l="0" r="0" t="0"/>
          <a:stretch/>
        </p:blipFill>
        <p:spPr>
          <a:xfrm>
            <a:off x="1443824" y="5764491"/>
            <a:ext cx="9304352" cy="70849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0"/>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404 error Optimization</a:t>
            </a:r>
            <a:endParaRPr/>
          </a:p>
        </p:txBody>
      </p:sp>
      <p:sp>
        <p:nvSpPr>
          <p:cNvPr id="227" name="Google Shape;227;p20"/>
          <p:cNvSpPr/>
          <p:nvPr/>
        </p:nvSpPr>
        <p:spPr>
          <a:xfrm>
            <a:off x="418564" y="1068950"/>
            <a:ext cx="11404242" cy="45977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p:txBody>
      </p:sp>
      <p:sp>
        <p:nvSpPr>
          <p:cNvPr id="228" name="Google Shape;228;p20"/>
          <p:cNvSpPr/>
          <p:nvPr/>
        </p:nvSpPr>
        <p:spPr>
          <a:xfrm>
            <a:off x="326265" y="1061274"/>
            <a:ext cx="11404242" cy="401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C00000"/>
                </a:solidFill>
                <a:latin typeface="Calibri"/>
                <a:ea typeface="Calibri"/>
                <a:cs typeface="Calibri"/>
                <a:sym typeface="Calibri"/>
              </a:rPr>
              <a:t>The 404 error message is an HTTP standard response code which indicates that client is able to contact the server but the server is not able to find the page requested by the client. </a:t>
            </a:r>
            <a:endParaRPr/>
          </a:p>
          <a:p>
            <a:pPr indent="0" lvl="0" marL="0" marR="0" rtl="0" algn="l">
              <a:spcBef>
                <a:spcPts val="0"/>
              </a:spcBef>
              <a:spcAft>
                <a:spcPts val="0"/>
              </a:spcAft>
              <a:buNone/>
            </a:pPr>
            <a:r>
              <a:rPr lang="en-US" sz="2400">
                <a:solidFill>
                  <a:srgbClr val="C00000"/>
                </a:solidFill>
                <a:latin typeface="Calibri"/>
                <a:ea typeface="Calibri"/>
                <a:cs typeface="Calibri"/>
                <a:sym typeface="Calibri"/>
              </a:rPr>
              <a:t>Thus, it simply means that the webpage you are trying to reach cannot be found on the server. Errors 404 usually arise due to a wrong link on your site or if you have removed the requested page.</a:t>
            </a:r>
            <a:endParaRPr/>
          </a:p>
          <a:p>
            <a:pPr indent="0" lvl="0" marL="0" marR="0" rtl="0" algn="l">
              <a:spcBef>
                <a:spcPts val="0"/>
              </a:spcBef>
              <a:spcAft>
                <a:spcPts val="0"/>
              </a:spcAft>
              <a:buNone/>
            </a:pPr>
            <a:r>
              <a:t/>
            </a:r>
            <a:endParaRPr sz="2400">
              <a:solidFill>
                <a:srgbClr val="C00000"/>
              </a:solidFill>
              <a:latin typeface="Calibri"/>
              <a:ea typeface="Calibri"/>
              <a:cs typeface="Calibri"/>
              <a:sym typeface="Calibri"/>
            </a:endParaRPr>
          </a:p>
          <a:p>
            <a:pPr indent="0" lvl="0" marL="0" marR="0" rtl="0" algn="l">
              <a:spcBef>
                <a:spcPts val="0"/>
              </a:spcBef>
              <a:spcAft>
                <a:spcPts val="0"/>
              </a:spcAft>
              <a:buNone/>
            </a:pPr>
            <a:r>
              <a:rPr lang="en-US" sz="2400">
                <a:solidFill>
                  <a:srgbClr val="C00000"/>
                </a:solidFill>
                <a:latin typeface="Calibri"/>
                <a:ea typeface="Calibri"/>
                <a:cs typeface="Calibri"/>
                <a:sym typeface="Calibri"/>
              </a:rPr>
              <a:t>If you don't create 404 Error Page, it can affect your SEO. It is required to have 404 error page because it is a common problem.</a:t>
            </a:r>
            <a:endParaRPr/>
          </a:p>
          <a:p>
            <a:pPr indent="0" lvl="0" marL="0" marR="0" rtl="0" algn="l">
              <a:spcBef>
                <a:spcPts val="0"/>
              </a:spcBef>
              <a:spcAft>
                <a:spcPts val="0"/>
              </a:spcAft>
              <a:buNone/>
            </a:pPr>
            <a:r>
              <a:rPr lang="en-US" sz="2400">
                <a:solidFill>
                  <a:srgbClr val="C00000"/>
                </a:solidFill>
                <a:latin typeface="Calibri"/>
                <a:ea typeface="Calibri"/>
                <a:cs typeface="Calibri"/>
                <a:sym typeface="Calibri"/>
              </a:rPr>
              <a:t>To create a 404 page, you need to redirect all irrelevant requests to a single 404 error page.</a:t>
            </a:r>
            <a:endParaRPr/>
          </a:p>
        </p:txBody>
      </p:sp>
      <p:pic>
        <p:nvPicPr>
          <p:cNvPr descr="SEO 404 error 1" id="229" name="Google Shape;229;p20"/>
          <p:cNvPicPr preferRelativeResize="0"/>
          <p:nvPr/>
        </p:nvPicPr>
        <p:blipFill rotWithShape="1">
          <a:blip r:embed="rId3">
            <a:alphaModFix/>
          </a:blip>
          <a:srcRect b="0" l="0" r="0" t="0"/>
          <a:stretch/>
        </p:blipFill>
        <p:spPr>
          <a:xfrm>
            <a:off x="3817222" y="4662152"/>
            <a:ext cx="4911725" cy="1647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nvSpPr>
        <p:spPr>
          <a:xfrm>
            <a:off x="4490786" y="404881"/>
            <a:ext cx="288457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C6600"/>
                </a:solidFill>
                <a:latin typeface="Verdana"/>
                <a:ea typeface="Verdana"/>
                <a:cs typeface="Verdana"/>
                <a:sym typeface="Verdana"/>
              </a:rPr>
              <a:t>plagiarism</a:t>
            </a:r>
            <a:endParaRPr/>
          </a:p>
        </p:txBody>
      </p:sp>
      <p:pic>
        <p:nvPicPr>
          <p:cNvPr id="235" name="Google Shape;235;p21"/>
          <p:cNvPicPr preferRelativeResize="0"/>
          <p:nvPr/>
        </p:nvPicPr>
        <p:blipFill rotWithShape="1">
          <a:blip r:embed="rId3">
            <a:alphaModFix/>
          </a:blip>
          <a:srcRect b="0" l="0" r="0" t="19773"/>
          <a:stretch/>
        </p:blipFill>
        <p:spPr>
          <a:xfrm>
            <a:off x="817800" y="1311442"/>
            <a:ext cx="10556400" cy="481263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2"/>
          <p:cNvPicPr preferRelativeResize="0"/>
          <p:nvPr/>
        </p:nvPicPr>
        <p:blipFill rotWithShape="1">
          <a:blip r:embed="rId3">
            <a:alphaModFix/>
          </a:blip>
          <a:srcRect b="0" l="0" r="0" t="6707"/>
          <a:stretch/>
        </p:blipFill>
        <p:spPr>
          <a:xfrm>
            <a:off x="830179" y="1251283"/>
            <a:ext cx="10453996" cy="5201836"/>
          </a:xfrm>
          <a:prstGeom prst="rect">
            <a:avLst/>
          </a:prstGeom>
          <a:noFill/>
          <a:ln cap="flat" cmpd="sng" w="9525">
            <a:solidFill>
              <a:schemeClr val="dk1"/>
            </a:solidFill>
            <a:prstDash val="solid"/>
            <a:round/>
            <a:headEnd len="sm" w="sm" type="none"/>
            <a:tailEnd len="sm" w="sm" type="none"/>
          </a:ln>
        </p:spPr>
      </p:pic>
      <p:sp>
        <p:nvSpPr>
          <p:cNvPr id="241" name="Google Shape;241;p22"/>
          <p:cNvSpPr txBox="1"/>
          <p:nvPr/>
        </p:nvSpPr>
        <p:spPr>
          <a:xfrm>
            <a:off x="4490786" y="404881"/>
            <a:ext cx="288457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C6600"/>
                </a:solidFill>
                <a:latin typeface="Verdana"/>
                <a:ea typeface="Verdana"/>
                <a:cs typeface="Verdana"/>
                <a:sym typeface="Verdana"/>
              </a:rPr>
              <a:t>plagiarism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3"/>
          <p:cNvPicPr preferRelativeResize="0"/>
          <p:nvPr/>
        </p:nvPicPr>
        <p:blipFill rotWithShape="1">
          <a:blip r:embed="rId3">
            <a:alphaModFix/>
          </a:blip>
          <a:srcRect b="35088" l="0" r="21345" t="0"/>
          <a:stretch/>
        </p:blipFill>
        <p:spPr>
          <a:xfrm>
            <a:off x="1780673" y="1383631"/>
            <a:ext cx="8630653" cy="4451684"/>
          </a:xfrm>
          <a:prstGeom prst="rect">
            <a:avLst/>
          </a:prstGeom>
          <a:noFill/>
          <a:ln cap="flat" cmpd="sng" w="9525">
            <a:solidFill>
              <a:schemeClr val="dk1"/>
            </a:solidFill>
            <a:prstDash val="solid"/>
            <a:round/>
            <a:headEnd len="sm" w="sm" type="none"/>
            <a:tailEnd len="sm" w="sm" type="none"/>
          </a:ln>
        </p:spPr>
      </p:pic>
      <p:sp>
        <p:nvSpPr>
          <p:cNvPr id="247" name="Google Shape;247;p23"/>
          <p:cNvSpPr txBox="1"/>
          <p:nvPr/>
        </p:nvSpPr>
        <p:spPr>
          <a:xfrm>
            <a:off x="3371849" y="385011"/>
            <a:ext cx="492994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C6600"/>
                </a:solidFill>
                <a:latin typeface="Verdana"/>
                <a:ea typeface="Verdana"/>
                <a:cs typeface="Verdana"/>
                <a:sym typeface="Verdana"/>
              </a:rPr>
              <a:t>Paraphrasing Tool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4"/>
          <p:cNvPicPr preferRelativeResize="0"/>
          <p:nvPr/>
        </p:nvPicPr>
        <p:blipFill rotWithShape="1">
          <a:blip r:embed="rId3">
            <a:alphaModFix/>
          </a:blip>
          <a:srcRect b="16749" l="0" r="0" t="0"/>
          <a:stretch/>
        </p:blipFill>
        <p:spPr>
          <a:xfrm>
            <a:off x="723504" y="1148622"/>
            <a:ext cx="10464085" cy="5444683"/>
          </a:xfrm>
          <a:prstGeom prst="rect">
            <a:avLst/>
          </a:prstGeom>
          <a:noFill/>
          <a:ln cap="flat" cmpd="sng" w="9525">
            <a:solidFill>
              <a:schemeClr val="dk1"/>
            </a:solidFill>
            <a:prstDash val="solid"/>
            <a:round/>
            <a:headEnd len="sm" w="sm" type="none"/>
            <a:tailEnd len="sm" w="sm" type="none"/>
          </a:ln>
        </p:spPr>
      </p:pic>
      <p:sp>
        <p:nvSpPr>
          <p:cNvPr id="253" name="Google Shape;253;p24"/>
          <p:cNvSpPr txBox="1"/>
          <p:nvPr/>
        </p:nvSpPr>
        <p:spPr>
          <a:xfrm>
            <a:off x="3371849" y="385011"/>
            <a:ext cx="492994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C6600"/>
                </a:solidFill>
                <a:latin typeface="Verdana"/>
                <a:ea typeface="Verdana"/>
                <a:cs typeface="Verdana"/>
                <a:sym typeface="Verdana"/>
              </a:rPr>
              <a:t>Paraphrasing Tool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3b34cbcae6_0_16"/>
          <p:cNvSpPr txBox="1"/>
          <p:nvPr/>
        </p:nvSpPr>
        <p:spPr>
          <a:xfrm>
            <a:off x="3536150" y="306150"/>
            <a:ext cx="4806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CC6600"/>
                </a:solidFill>
                <a:latin typeface="Verdana"/>
                <a:ea typeface="Verdana"/>
                <a:cs typeface="Verdana"/>
                <a:sym typeface="Verdana"/>
              </a:rPr>
              <a:t>AI Humanizer</a:t>
            </a:r>
            <a:endParaRPr b="1" sz="3200">
              <a:solidFill>
                <a:srgbClr val="CC6600"/>
              </a:solidFill>
              <a:latin typeface="Verdana"/>
              <a:ea typeface="Verdana"/>
              <a:cs typeface="Verdana"/>
              <a:sym typeface="Verdana"/>
            </a:endParaRPr>
          </a:p>
        </p:txBody>
      </p:sp>
      <p:pic>
        <p:nvPicPr>
          <p:cNvPr id="259" name="Google Shape;259;g33b34cbcae6_0_16" title="Screenshot (19).png"/>
          <p:cNvPicPr preferRelativeResize="0"/>
          <p:nvPr/>
        </p:nvPicPr>
        <p:blipFill>
          <a:blip r:embed="rId3">
            <a:alphaModFix/>
          </a:blip>
          <a:stretch>
            <a:fillRect/>
          </a:stretch>
        </p:blipFill>
        <p:spPr>
          <a:xfrm>
            <a:off x="526050" y="1105050"/>
            <a:ext cx="11139901" cy="5569950"/>
          </a:xfrm>
          <a:prstGeom prst="rect">
            <a:avLst/>
          </a:prstGeom>
          <a:noFill/>
          <a:ln>
            <a:noFill/>
          </a:ln>
        </p:spPr>
      </p:pic>
      <p:sp>
        <p:nvSpPr>
          <p:cNvPr id="260" name="Google Shape;260;g33b34cbcae6_0_16"/>
          <p:cNvSpPr txBox="1"/>
          <p:nvPr/>
        </p:nvSpPr>
        <p:spPr>
          <a:xfrm>
            <a:off x="7868325" y="4446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https://quillbot.com/ai-humanizer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25"/>
          <p:cNvPicPr preferRelativeResize="0"/>
          <p:nvPr/>
        </p:nvPicPr>
        <p:blipFill rotWithShape="1">
          <a:blip r:embed="rId3">
            <a:alphaModFix/>
          </a:blip>
          <a:srcRect b="4852" l="0" r="0" t="0"/>
          <a:stretch/>
        </p:blipFill>
        <p:spPr>
          <a:xfrm>
            <a:off x="1126958" y="734426"/>
            <a:ext cx="9123947" cy="5425741"/>
          </a:xfrm>
          <a:prstGeom prst="rect">
            <a:avLst/>
          </a:prstGeom>
          <a:noFill/>
          <a:ln cap="flat" cmpd="sng" w="9525">
            <a:solidFill>
              <a:schemeClr val="dk1"/>
            </a:solidFill>
            <a:prstDash val="solid"/>
            <a:round/>
            <a:headEnd len="sm" w="sm" type="none"/>
            <a:tailEnd len="sm" w="sm" type="none"/>
          </a:ln>
        </p:spPr>
      </p:pic>
      <p:sp>
        <p:nvSpPr>
          <p:cNvPr id="266" name="Google Shape;266;p25"/>
          <p:cNvSpPr txBox="1"/>
          <p:nvPr/>
        </p:nvSpPr>
        <p:spPr>
          <a:xfrm>
            <a:off x="3371849" y="120315"/>
            <a:ext cx="6361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C6600"/>
                </a:solidFill>
                <a:latin typeface="Verdana"/>
                <a:ea typeface="Verdana"/>
                <a:cs typeface="Verdana"/>
                <a:sym typeface="Verdana"/>
              </a:rPr>
              <a:t>keyword Density&lt;=2</a:t>
            </a:r>
            <a:endParaRPr/>
          </a:p>
        </p:txBody>
      </p:sp>
      <p:sp>
        <p:nvSpPr>
          <p:cNvPr id="267" name="Google Shape;267;p25"/>
          <p:cNvSpPr txBox="1"/>
          <p:nvPr/>
        </p:nvSpPr>
        <p:spPr>
          <a:xfrm>
            <a:off x="2349166" y="6312392"/>
            <a:ext cx="60939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https://www.seoreviewtools.com/keyword-density-checker/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nvSpPr>
        <p:spPr>
          <a:xfrm>
            <a:off x="838199" y="141665"/>
            <a:ext cx="7919435" cy="721216"/>
          </a:xfrm>
          <a:prstGeom prst="rect">
            <a:avLst/>
          </a:prstGeom>
          <a:noFill/>
          <a:ln>
            <a:noFill/>
          </a:ln>
        </p:spPr>
        <p:txBody>
          <a:bodyPr anchorCtr="0" anchor="ctr" bIns="45700" lIns="91425" spcFirstLastPara="1" rIns="91425" wrap="square" tIns="45700">
            <a:normAutofit fontScale="92500"/>
          </a:bodyPr>
          <a:lstStyle/>
          <a:p>
            <a:pPr indent="0" lvl="0" marL="0" marR="0" rtl="0" algn="l">
              <a:lnSpc>
                <a:spcPct val="90000"/>
              </a:lnSpc>
              <a:spcBef>
                <a:spcPts val="0"/>
              </a:spcBef>
              <a:spcAft>
                <a:spcPts val="0"/>
              </a:spcAft>
              <a:buClr>
                <a:srgbClr val="CC6600"/>
              </a:buClr>
              <a:buSzPct val="100000"/>
              <a:buFont typeface="Verdana"/>
              <a:buNone/>
            </a:pPr>
            <a:r>
              <a:rPr b="1" lang="en-US" sz="4000">
                <a:solidFill>
                  <a:srgbClr val="CC6600"/>
                </a:solidFill>
                <a:latin typeface="Verdana"/>
                <a:ea typeface="Verdana"/>
                <a:cs typeface="Verdana"/>
                <a:sym typeface="Verdana"/>
              </a:rPr>
              <a:t>Importance of H1 Tag in SEO</a:t>
            </a:r>
            <a:endParaRPr b="1" sz="4000">
              <a:solidFill>
                <a:srgbClr val="CC6600"/>
              </a:solidFill>
              <a:latin typeface="Verdana"/>
              <a:ea typeface="Verdana"/>
              <a:cs typeface="Verdana"/>
              <a:sym typeface="Verdana"/>
            </a:endParaRPr>
          </a:p>
        </p:txBody>
      </p:sp>
      <p:sp>
        <p:nvSpPr>
          <p:cNvPr id="273" name="Google Shape;273;p26"/>
          <p:cNvSpPr txBox="1"/>
          <p:nvPr>
            <p:ph idx="1" type="subTitle"/>
          </p:nvPr>
        </p:nvSpPr>
        <p:spPr>
          <a:xfrm>
            <a:off x="1047482" y="1682532"/>
            <a:ext cx="10092744" cy="3294417"/>
          </a:xfrm>
          <a:prstGeom prst="rect">
            <a:avLst/>
          </a:prstGeom>
          <a:solidFill>
            <a:srgbClr val="FFFFCC"/>
          </a:solid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a:latin typeface="Verdana"/>
                <a:ea typeface="Verdana"/>
                <a:cs typeface="Verdana"/>
                <a:sym typeface="Verdana"/>
              </a:rPr>
              <a:t>H1 are usually the most visually notable content on the page</a:t>
            </a:r>
            <a:br>
              <a:rPr b="1" lang="en-US">
                <a:latin typeface="Verdana"/>
                <a:ea typeface="Verdana"/>
                <a:cs typeface="Verdana"/>
                <a:sym typeface="Verdana"/>
              </a:rPr>
            </a:br>
            <a:br>
              <a:rPr b="1" lang="en-US">
                <a:latin typeface="Verdana"/>
                <a:ea typeface="Verdana"/>
                <a:cs typeface="Verdana"/>
                <a:sym typeface="Verdana"/>
              </a:rPr>
            </a:br>
            <a:r>
              <a:rPr b="1" lang="en-US">
                <a:latin typeface="Verdana"/>
                <a:ea typeface="Verdana"/>
                <a:cs typeface="Verdana"/>
                <a:sym typeface="Verdana"/>
              </a:rPr>
              <a:t>Use Only one H1</a:t>
            </a:r>
            <a:br>
              <a:rPr b="1" lang="en-US">
                <a:latin typeface="Verdana"/>
                <a:ea typeface="Verdana"/>
                <a:cs typeface="Verdana"/>
                <a:sym typeface="Verdana"/>
              </a:rPr>
            </a:br>
            <a:br>
              <a:rPr b="1" lang="en-US">
                <a:latin typeface="Verdana"/>
                <a:ea typeface="Verdana"/>
                <a:cs typeface="Verdana"/>
                <a:sym typeface="Verdana"/>
              </a:rPr>
            </a:br>
            <a:r>
              <a:rPr b="1" lang="en-US">
                <a:latin typeface="Verdana"/>
                <a:ea typeface="Verdana"/>
                <a:cs typeface="Verdana"/>
                <a:sym typeface="Verdana"/>
              </a:rPr>
              <a:t>The H1 should be from 20-70 Characters.</a:t>
            </a:r>
            <a:br>
              <a:rPr b="1" lang="en-US">
                <a:latin typeface="Verdana"/>
                <a:ea typeface="Verdana"/>
                <a:cs typeface="Verdana"/>
                <a:sym typeface="Verdana"/>
              </a:rPr>
            </a:br>
            <a:br>
              <a:rPr b="1" lang="en-US">
                <a:latin typeface="Verdana"/>
                <a:ea typeface="Verdana"/>
                <a:cs typeface="Verdana"/>
                <a:sym typeface="Verdana"/>
              </a:rPr>
            </a:br>
            <a:r>
              <a:rPr b="1" lang="en-US">
                <a:latin typeface="Verdana"/>
                <a:ea typeface="Verdana"/>
                <a:cs typeface="Verdana"/>
                <a:sym typeface="Verdana"/>
              </a:rPr>
              <a:t>Answer user intent with your H1.</a:t>
            </a:r>
            <a:endParaRPr b="1">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nvSpPr>
        <p:spPr>
          <a:xfrm>
            <a:off x="838199" y="141665"/>
            <a:ext cx="7919435" cy="721216"/>
          </a:xfrm>
          <a:prstGeom prst="rect">
            <a:avLst/>
          </a:prstGeom>
          <a:noFill/>
          <a:ln>
            <a:noFill/>
          </a:ln>
        </p:spPr>
        <p:txBody>
          <a:bodyPr anchorCtr="0" anchor="ctr" bIns="45700" lIns="91425" spcFirstLastPara="1" rIns="91425" wrap="square" tIns="45700">
            <a:normAutofit fontScale="92500"/>
          </a:bodyPr>
          <a:lstStyle/>
          <a:p>
            <a:pPr indent="0" lvl="0" marL="0" marR="0" rtl="0" algn="l">
              <a:lnSpc>
                <a:spcPct val="90000"/>
              </a:lnSpc>
              <a:spcBef>
                <a:spcPts val="0"/>
              </a:spcBef>
              <a:spcAft>
                <a:spcPts val="0"/>
              </a:spcAft>
              <a:buClr>
                <a:srgbClr val="CC6600"/>
              </a:buClr>
              <a:buSzPct val="100000"/>
              <a:buFont typeface="Verdana"/>
              <a:buNone/>
            </a:pPr>
            <a:r>
              <a:rPr b="1" lang="en-US" sz="4000">
                <a:solidFill>
                  <a:srgbClr val="CC6600"/>
                </a:solidFill>
                <a:latin typeface="Verdana"/>
                <a:ea typeface="Verdana"/>
                <a:cs typeface="Verdana"/>
                <a:sym typeface="Verdana"/>
              </a:rPr>
              <a:t>Importance of H1 Tag in SEO</a:t>
            </a:r>
            <a:endParaRPr b="1" sz="4000">
              <a:solidFill>
                <a:srgbClr val="CC6600"/>
              </a:solidFill>
              <a:latin typeface="Verdana"/>
              <a:ea typeface="Verdana"/>
              <a:cs typeface="Verdana"/>
              <a:sym typeface="Verdana"/>
            </a:endParaRPr>
          </a:p>
        </p:txBody>
      </p:sp>
      <p:pic>
        <p:nvPicPr>
          <p:cNvPr id="279" name="Google Shape;279;p27"/>
          <p:cNvPicPr preferRelativeResize="0"/>
          <p:nvPr/>
        </p:nvPicPr>
        <p:blipFill rotWithShape="1">
          <a:blip r:embed="rId3">
            <a:alphaModFix/>
          </a:blip>
          <a:srcRect b="9844" l="0" r="0" t="4526"/>
          <a:stretch/>
        </p:blipFill>
        <p:spPr>
          <a:xfrm>
            <a:off x="592428" y="1223492"/>
            <a:ext cx="10586434" cy="53769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nvSpPr>
        <p:spPr>
          <a:xfrm>
            <a:off x="838199" y="141665"/>
            <a:ext cx="7919435" cy="721216"/>
          </a:xfrm>
          <a:prstGeom prst="rect">
            <a:avLst/>
          </a:prstGeom>
          <a:noFill/>
          <a:ln>
            <a:noFill/>
          </a:ln>
        </p:spPr>
        <p:txBody>
          <a:bodyPr anchorCtr="0" anchor="ctr" bIns="45700" lIns="91425" spcFirstLastPara="1" rIns="91425" wrap="square" tIns="45700">
            <a:normAutofit fontScale="92500"/>
          </a:bodyPr>
          <a:lstStyle/>
          <a:p>
            <a:pPr indent="0" lvl="0" marL="0" marR="0" rtl="0" algn="l">
              <a:lnSpc>
                <a:spcPct val="90000"/>
              </a:lnSpc>
              <a:spcBef>
                <a:spcPts val="0"/>
              </a:spcBef>
              <a:spcAft>
                <a:spcPts val="0"/>
              </a:spcAft>
              <a:buClr>
                <a:srgbClr val="CC6600"/>
              </a:buClr>
              <a:buSzPct val="100000"/>
              <a:buFont typeface="Verdana"/>
              <a:buNone/>
            </a:pPr>
            <a:r>
              <a:rPr b="1" lang="en-US" sz="4000">
                <a:solidFill>
                  <a:srgbClr val="CC6600"/>
                </a:solidFill>
                <a:latin typeface="Verdana"/>
                <a:ea typeface="Verdana"/>
                <a:cs typeface="Verdana"/>
                <a:sym typeface="Verdana"/>
              </a:rPr>
              <a:t>Importance of H1 Tag in SEO</a:t>
            </a:r>
            <a:endParaRPr b="1" sz="4000">
              <a:solidFill>
                <a:srgbClr val="CC6600"/>
              </a:solidFill>
              <a:latin typeface="Verdana"/>
              <a:ea typeface="Verdana"/>
              <a:cs typeface="Verdana"/>
              <a:sym typeface="Verdana"/>
            </a:endParaRPr>
          </a:p>
        </p:txBody>
      </p:sp>
      <p:pic>
        <p:nvPicPr>
          <p:cNvPr id="285" name="Google Shape;285;p28"/>
          <p:cNvPicPr preferRelativeResize="0"/>
          <p:nvPr/>
        </p:nvPicPr>
        <p:blipFill rotWithShape="1">
          <a:blip r:embed="rId3">
            <a:alphaModFix/>
          </a:blip>
          <a:srcRect b="36946" l="0" r="0" t="0"/>
          <a:stretch/>
        </p:blipFill>
        <p:spPr>
          <a:xfrm>
            <a:off x="244698" y="1123057"/>
            <a:ext cx="11243256" cy="53421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nvSpPr>
        <p:spPr>
          <a:xfrm>
            <a:off x="838199" y="141665"/>
            <a:ext cx="7919435"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000"/>
              <a:buFont typeface="Calibri"/>
              <a:buNone/>
            </a:pPr>
            <a:r>
              <a:t/>
            </a:r>
            <a:endParaRPr b="1" sz="4000">
              <a:solidFill>
                <a:srgbClr val="FF9933"/>
              </a:solidFill>
              <a:latin typeface="Verdana"/>
              <a:ea typeface="Verdana"/>
              <a:cs typeface="Verdana"/>
              <a:sym typeface="Verdana"/>
            </a:endParaRPr>
          </a:p>
        </p:txBody>
      </p:sp>
      <p:sp>
        <p:nvSpPr>
          <p:cNvPr id="291" name="Google Shape;291;p29"/>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Canonicalization Issue(Canonical Tag Optimization)</a:t>
            </a:r>
            <a:endParaRPr b="1" sz="3200">
              <a:solidFill>
                <a:srgbClr val="CC6600"/>
              </a:solidFill>
              <a:latin typeface="Verdana"/>
              <a:ea typeface="Verdana"/>
              <a:cs typeface="Verdana"/>
              <a:sym typeface="Verdana"/>
            </a:endParaRPr>
          </a:p>
        </p:txBody>
      </p:sp>
      <p:sp>
        <p:nvSpPr>
          <p:cNvPr id="292" name="Google Shape;292;p29"/>
          <p:cNvSpPr/>
          <p:nvPr/>
        </p:nvSpPr>
        <p:spPr>
          <a:xfrm>
            <a:off x="418564" y="1094681"/>
            <a:ext cx="11153105" cy="5161740"/>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rgbClr val="CC6600"/>
              </a:buClr>
              <a:buSzPts val="2400"/>
              <a:buFont typeface="Arial"/>
              <a:buChar char="•"/>
            </a:pPr>
            <a:r>
              <a:rPr lang="en-US" sz="2400">
                <a:solidFill>
                  <a:srgbClr val="CC6600"/>
                </a:solidFill>
                <a:latin typeface="Calibri"/>
                <a:ea typeface="Calibri"/>
                <a:cs typeface="Calibri"/>
                <a:sym typeface="Calibri"/>
              </a:rPr>
              <a:t>Canonical Tag is an HTML element that is used to prevent duplicate content issues.</a:t>
            </a:r>
            <a:endParaRPr/>
          </a:p>
          <a:p>
            <a:pPr indent="-133350" lvl="0" marL="285750" marR="0" rtl="0" algn="l">
              <a:spcBef>
                <a:spcPts val="0"/>
              </a:spcBef>
              <a:spcAft>
                <a:spcPts val="0"/>
              </a:spcAft>
              <a:buClr>
                <a:schemeClr val="dk1"/>
              </a:buClr>
              <a:buSzPts val="2400"/>
              <a:buFont typeface="Arial"/>
              <a:buNone/>
            </a:pPr>
            <a:r>
              <a:t/>
            </a:r>
            <a:endParaRPr sz="2400">
              <a:solidFill>
                <a:srgbClr val="CC6600"/>
              </a:solidFill>
              <a:latin typeface="Calibri"/>
              <a:ea typeface="Calibri"/>
              <a:cs typeface="Calibri"/>
              <a:sym typeface="Calibri"/>
            </a:endParaRPr>
          </a:p>
          <a:p>
            <a:pPr indent="-285750" lvl="0" marL="285750" marR="0" rtl="0" algn="l">
              <a:spcBef>
                <a:spcPts val="0"/>
              </a:spcBef>
              <a:spcAft>
                <a:spcPts val="0"/>
              </a:spcAft>
              <a:buClr>
                <a:srgbClr val="CC6600"/>
              </a:buClr>
              <a:buSzPts val="2400"/>
              <a:buFont typeface="Arial"/>
              <a:buChar char="•"/>
            </a:pPr>
            <a:r>
              <a:rPr lang="en-US" sz="2400">
                <a:solidFill>
                  <a:srgbClr val="CC6600"/>
                </a:solidFill>
                <a:latin typeface="Calibri"/>
                <a:ea typeface="Calibri"/>
                <a:cs typeface="Calibri"/>
                <a:sym typeface="Calibri"/>
              </a:rPr>
              <a:t>Canonical Tag is a page level meta Tag that is placed in the HTML header of a website. </a:t>
            </a:r>
            <a:endParaRPr sz="2400">
              <a:solidFill>
                <a:srgbClr val="CC66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CC6600"/>
              </a:solidFill>
              <a:latin typeface="Calibri"/>
              <a:ea typeface="Calibri"/>
              <a:cs typeface="Calibri"/>
              <a:sym typeface="Calibri"/>
            </a:endParaRPr>
          </a:p>
          <a:p>
            <a:pPr indent="-285750" lvl="0" marL="285750" marR="0" rtl="0" algn="l">
              <a:spcBef>
                <a:spcPts val="0"/>
              </a:spcBef>
              <a:spcAft>
                <a:spcPts val="0"/>
              </a:spcAft>
              <a:buClr>
                <a:srgbClr val="CC6600"/>
              </a:buClr>
              <a:buSzPts val="2400"/>
              <a:buFont typeface="Arial"/>
              <a:buChar char="•"/>
            </a:pPr>
            <a:r>
              <a:rPr lang="en-US" sz="2400">
                <a:solidFill>
                  <a:srgbClr val="CC6600"/>
                </a:solidFill>
                <a:latin typeface="Calibri"/>
                <a:ea typeface="Calibri"/>
                <a:cs typeface="Calibri"/>
                <a:sym typeface="Calibri"/>
              </a:rPr>
              <a:t>Use one Canonical tag per page.</a:t>
            </a:r>
            <a:endParaRPr/>
          </a:p>
          <a:p>
            <a:pPr indent="-133350" lvl="0" marL="285750" marR="0" rtl="0" algn="l">
              <a:spcBef>
                <a:spcPts val="0"/>
              </a:spcBef>
              <a:spcAft>
                <a:spcPts val="0"/>
              </a:spcAft>
              <a:buClr>
                <a:schemeClr val="dk1"/>
              </a:buClr>
              <a:buSzPts val="2400"/>
              <a:buFont typeface="Arial"/>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800">
                <a:solidFill>
                  <a:srgbClr val="CC6600"/>
                </a:solidFill>
                <a:latin typeface="Calibri"/>
                <a:ea typeface="Calibri"/>
                <a:cs typeface="Calibri"/>
                <a:sym typeface="Calibri"/>
              </a:rPr>
              <a:t>How to apply a canonical tag?</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342900" lvl="0" marL="342900" marR="0" rtl="0" algn="l">
              <a:spcBef>
                <a:spcPts val="0"/>
              </a:spcBef>
              <a:spcAft>
                <a:spcPts val="0"/>
              </a:spcAft>
              <a:buClr>
                <a:srgbClr val="CC6600"/>
              </a:buClr>
              <a:buSzPts val="2400"/>
              <a:buFont typeface="Arial"/>
              <a:buChar char="•"/>
            </a:pPr>
            <a:r>
              <a:rPr lang="en-US" sz="2400">
                <a:solidFill>
                  <a:srgbClr val="CC6600"/>
                </a:solidFill>
                <a:latin typeface="Calibri"/>
                <a:ea typeface="Calibri"/>
                <a:cs typeface="Calibri"/>
                <a:sym typeface="Calibri"/>
              </a:rPr>
              <a:t>You can apply this tag by adding a link tag to the head of the HTML code of the page that you want to be recognized as canonical by the search engine, e.g. to designate www.xyz.com with the canonical tag, the code will look like as shown below;</a:t>
            </a:r>
            <a:endParaRPr/>
          </a:p>
          <a:p>
            <a:pPr indent="-342900" lvl="0" marL="342900" marR="0" rtl="0" algn="l">
              <a:spcBef>
                <a:spcPts val="0"/>
              </a:spcBef>
              <a:spcAft>
                <a:spcPts val="0"/>
              </a:spcAft>
              <a:buClr>
                <a:srgbClr val="CC6600"/>
              </a:buClr>
              <a:buSzPts val="2400"/>
              <a:buFont typeface="Arial"/>
              <a:buChar char="•"/>
            </a:pPr>
            <a:r>
              <a:rPr b="1" lang="en-US" sz="2400">
                <a:solidFill>
                  <a:srgbClr val="CC6600"/>
                </a:solidFill>
                <a:latin typeface="Calibri"/>
                <a:ea typeface="Calibri"/>
                <a:cs typeface="Calibri"/>
                <a:sym typeface="Calibri"/>
              </a:rPr>
              <a:t>&lt;link</a:t>
            </a:r>
            <a:r>
              <a:rPr lang="en-US" sz="2400">
                <a:solidFill>
                  <a:srgbClr val="CC6600"/>
                </a:solidFill>
                <a:latin typeface="Calibri"/>
                <a:ea typeface="Calibri"/>
                <a:cs typeface="Calibri"/>
                <a:sym typeface="Calibri"/>
              </a:rPr>
              <a:t> rel="canonical" href=" http://www.example.com/toys/cars/yellow" </a:t>
            </a:r>
            <a:r>
              <a:rPr b="1" lang="en-US" sz="2400">
                <a:solidFill>
                  <a:srgbClr val="CC6600"/>
                </a:solidFill>
                <a:latin typeface="Calibri"/>
                <a:ea typeface="Calibri"/>
                <a:cs typeface="Calibri"/>
                <a:sym typeface="Calibri"/>
              </a:rPr>
              <a:t>/&gt;</a:t>
            </a:r>
            <a:r>
              <a:rPr lang="en-US" sz="2400">
                <a:solidFill>
                  <a:srgbClr val="CC6600"/>
                </a:solidFill>
                <a:latin typeface="Calibri"/>
                <a:ea typeface="Calibri"/>
                <a:cs typeface="Calibri"/>
                <a:sym typeface="Calibri"/>
              </a:rPr>
              <a:t>   </a:t>
            </a:r>
            <a:endParaRPr sz="2400">
              <a:solidFill>
                <a:srgbClr val="CC66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0"/>
          <p:cNvSpPr txBox="1"/>
          <p:nvPr/>
        </p:nvSpPr>
        <p:spPr>
          <a:xfrm>
            <a:off x="838199" y="141665"/>
            <a:ext cx="7919435" cy="72121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000"/>
              <a:buFont typeface="Calibri"/>
              <a:buNone/>
            </a:pPr>
            <a:r>
              <a:t/>
            </a:r>
            <a:endParaRPr b="1" sz="4000">
              <a:solidFill>
                <a:srgbClr val="FF9933"/>
              </a:solidFill>
              <a:latin typeface="Verdana"/>
              <a:ea typeface="Verdana"/>
              <a:cs typeface="Verdana"/>
              <a:sym typeface="Verdana"/>
            </a:endParaRPr>
          </a:p>
        </p:txBody>
      </p:sp>
      <p:sp>
        <p:nvSpPr>
          <p:cNvPr id="298" name="Google Shape;298;p30"/>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Canonicalization Issue(Canonical Tag Optimization)</a:t>
            </a:r>
            <a:endParaRPr b="1" sz="3200">
              <a:solidFill>
                <a:srgbClr val="CC6600"/>
              </a:solidFill>
              <a:latin typeface="Verdana"/>
              <a:ea typeface="Verdana"/>
              <a:cs typeface="Verdana"/>
              <a:sym typeface="Verdana"/>
            </a:endParaRPr>
          </a:p>
        </p:txBody>
      </p:sp>
      <p:pic>
        <p:nvPicPr>
          <p:cNvPr descr="SEO Canonical tag 1" id="299" name="Google Shape;299;p30"/>
          <p:cNvPicPr preferRelativeResize="0"/>
          <p:nvPr/>
        </p:nvPicPr>
        <p:blipFill rotWithShape="1">
          <a:blip r:embed="rId3">
            <a:alphaModFix/>
          </a:blip>
          <a:srcRect b="0" l="0" r="0" t="0"/>
          <a:stretch/>
        </p:blipFill>
        <p:spPr>
          <a:xfrm>
            <a:off x="721218" y="1478476"/>
            <a:ext cx="10637948" cy="512838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Robots.txt</a:t>
            </a:r>
            <a:endParaRPr b="1" sz="3200">
              <a:solidFill>
                <a:srgbClr val="CC6600"/>
              </a:solidFill>
              <a:latin typeface="Verdana"/>
              <a:ea typeface="Verdana"/>
              <a:cs typeface="Verdana"/>
              <a:sym typeface="Verdana"/>
            </a:endParaRPr>
          </a:p>
        </p:txBody>
      </p:sp>
      <p:sp>
        <p:nvSpPr>
          <p:cNvPr id="305" name="Google Shape;305;p31"/>
          <p:cNvSpPr/>
          <p:nvPr/>
        </p:nvSpPr>
        <p:spPr>
          <a:xfrm>
            <a:off x="418564" y="1094692"/>
            <a:ext cx="11153105" cy="5602321"/>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6600"/>
                </a:solidFill>
                <a:latin typeface="Calibri"/>
                <a:ea typeface="Calibri"/>
                <a:cs typeface="Calibri"/>
                <a:sym typeface="Calibri"/>
              </a:rPr>
              <a:t>A robots.txt file tells search engines where they can and can’t go on your website.</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b="1" lang="en-US" sz="2400">
                <a:solidFill>
                  <a:srgbClr val="CC6600"/>
                </a:solidFill>
                <a:latin typeface="Calibri"/>
                <a:ea typeface="Calibri"/>
                <a:cs typeface="Calibri"/>
                <a:sym typeface="Calibri"/>
              </a:rPr>
              <a:t>Search spider arrives at a website with a pre-determined “allowance” for how</a:t>
            </a:r>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many pages it will crawl (or how much resource/time it will spend, based on a </a:t>
            </a:r>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sites' authority/ size/ reputation).(EX : Crawl Budget)</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2. Sometimes you don’t want certain pages to be crawled &amp; indexed due to certain reasons.(EX : xyz.com/wp-admin)</a:t>
            </a:r>
            <a:endParaRPr/>
          </a:p>
        </p:txBody>
      </p:sp>
      <p:sp>
        <p:nvSpPr>
          <p:cNvPr id="306" name="Google Shape;306;p31"/>
          <p:cNvSpPr txBox="1"/>
          <p:nvPr/>
        </p:nvSpPr>
        <p:spPr>
          <a:xfrm>
            <a:off x="4156656" y="2636915"/>
            <a:ext cx="2072425" cy="721216"/>
          </a:xfrm>
          <a:prstGeom prst="rect">
            <a:avLst/>
          </a:prstGeom>
          <a:solidFill>
            <a:srgbClr val="92D050"/>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Why?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2"/>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Robots.txt Examples</a:t>
            </a:r>
            <a:endParaRPr b="1" sz="3200">
              <a:solidFill>
                <a:srgbClr val="CC6600"/>
              </a:solidFill>
              <a:latin typeface="Verdana"/>
              <a:ea typeface="Verdana"/>
              <a:cs typeface="Verdana"/>
              <a:sym typeface="Verdana"/>
            </a:endParaRPr>
          </a:p>
        </p:txBody>
      </p:sp>
      <p:pic>
        <p:nvPicPr>
          <p:cNvPr id="312" name="Google Shape;312;p32"/>
          <p:cNvPicPr preferRelativeResize="0"/>
          <p:nvPr/>
        </p:nvPicPr>
        <p:blipFill rotWithShape="1">
          <a:blip r:embed="rId3">
            <a:alphaModFix/>
          </a:blip>
          <a:srcRect b="0" l="0" r="0" t="0"/>
          <a:stretch/>
        </p:blipFill>
        <p:spPr>
          <a:xfrm>
            <a:off x="724973" y="905037"/>
            <a:ext cx="4791744" cy="5817735"/>
          </a:xfrm>
          <a:prstGeom prst="rect">
            <a:avLst/>
          </a:prstGeom>
          <a:noFill/>
          <a:ln>
            <a:noFill/>
          </a:ln>
        </p:spPr>
      </p:pic>
      <p:pic>
        <p:nvPicPr>
          <p:cNvPr id="313" name="Google Shape;313;p32"/>
          <p:cNvPicPr preferRelativeResize="0"/>
          <p:nvPr/>
        </p:nvPicPr>
        <p:blipFill rotWithShape="1">
          <a:blip r:embed="rId4">
            <a:alphaModFix/>
          </a:blip>
          <a:srcRect b="0" l="0" r="0" t="0"/>
          <a:stretch/>
        </p:blipFill>
        <p:spPr>
          <a:xfrm>
            <a:off x="6188299" y="1385904"/>
            <a:ext cx="5201376" cy="46679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3"/>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What is Sitemap? Its Types</a:t>
            </a:r>
            <a:endParaRPr b="1" sz="3200">
              <a:solidFill>
                <a:srgbClr val="CC6600"/>
              </a:solidFill>
              <a:latin typeface="Verdana"/>
              <a:ea typeface="Verdana"/>
              <a:cs typeface="Verdana"/>
              <a:sym typeface="Verdana"/>
            </a:endParaRPr>
          </a:p>
        </p:txBody>
      </p:sp>
      <p:sp>
        <p:nvSpPr>
          <p:cNvPr id="319" name="Google Shape;319;p33"/>
          <p:cNvSpPr/>
          <p:nvPr/>
        </p:nvSpPr>
        <p:spPr>
          <a:xfrm>
            <a:off x="418564" y="1094692"/>
            <a:ext cx="11153105" cy="5602321"/>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Sitemap refers to the map of your site which shows the detailed structure of your site like its different sections and the links which connect them. The role of site map is to help users and search engines find information on your site.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 site map can be a static HTML file or an XML file.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An HTML sitemap enables lost human users to find a page on your site that they are looking for.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An XML sitemap is specially written for search engine spiders. A search engine spider can quickly and easily extract all the important pieces of information about your site by looking at the XML file.</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p:nvPr/>
        </p:nvSpPr>
        <p:spPr>
          <a:xfrm>
            <a:off x="4630692" y="302672"/>
            <a:ext cx="3116688" cy="538319"/>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XML Sitemap</a:t>
            </a:r>
            <a:endParaRPr b="1" sz="2000">
              <a:solidFill>
                <a:schemeClr val="lt1"/>
              </a:solidFill>
              <a:latin typeface="Calibri"/>
              <a:ea typeface="Calibri"/>
              <a:cs typeface="Calibri"/>
              <a:sym typeface="Calibri"/>
            </a:endParaRPr>
          </a:p>
        </p:txBody>
      </p:sp>
      <p:pic>
        <p:nvPicPr>
          <p:cNvPr id="325" name="Google Shape;325;p34"/>
          <p:cNvPicPr preferRelativeResize="0"/>
          <p:nvPr/>
        </p:nvPicPr>
        <p:blipFill rotWithShape="1">
          <a:blip r:embed="rId3">
            <a:alphaModFix/>
          </a:blip>
          <a:srcRect b="12297" l="-128" r="41868" t="178"/>
          <a:stretch/>
        </p:blipFill>
        <p:spPr>
          <a:xfrm>
            <a:off x="1652558" y="997005"/>
            <a:ext cx="9006732" cy="571730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5"/>
          <p:cNvSpPr/>
          <p:nvPr/>
        </p:nvSpPr>
        <p:spPr>
          <a:xfrm>
            <a:off x="4630692" y="302672"/>
            <a:ext cx="3116688" cy="538319"/>
          </a:xfrm>
          <a:prstGeom prst="rect">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HTML Sitemap</a:t>
            </a:r>
            <a:endParaRPr b="1" sz="2000">
              <a:solidFill>
                <a:schemeClr val="lt1"/>
              </a:solidFill>
              <a:latin typeface="Calibri"/>
              <a:ea typeface="Calibri"/>
              <a:cs typeface="Calibri"/>
              <a:sym typeface="Calibri"/>
            </a:endParaRPr>
          </a:p>
        </p:txBody>
      </p:sp>
      <p:pic>
        <p:nvPicPr>
          <p:cNvPr id="331" name="Google Shape;331;p35"/>
          <p:cNvPicPr preferRelativeResize="0"/>
          <p:nvPr/>
        </p:nvPicPr>
        <p:blipFill rotWithShape="1">
          <a:blip r:embed="rId3">
            <a:alphaModFix/>
          </a:blip>
          <a:srcRect b="0" l="0" r="0" t="0"/>
          <a:stretch/>
        </p:blipFill>
        <p:spPr>
          <a:xfrm>
            <a:off x="731515" y="1177490"/>
            <a:ext cx="10672356" cy="543231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6"/>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Sitemap Practically Step 1</a:t>
            </a:r>
            <a:endParaRPr b="1" sz="3200">
              <a:solidFill>
                <a:srgbClr val="CC6600"/>
              </a:solidFill>
              <a:latin typeface="Verdana"/>
              <a:ea typeface="Verdana"/>
              <a:cs typeface="Verdana"/>
              <a:sym typeface="Verdana"/>
            </a:endParaRPr>
          </a:p>
        </p:txBody>
      </p:sp>
      <p:pic>
        <p:nvPicPr>
          <p:cNvPr id="337" name="Google Shape;337;p36"/>
          <p:cNvPicPr preferRelativeResize="0"/>
          <p:nvPr/>
        </p:nvPicPr>
        <p:blipFill rotWithShape="1">
          <a:blip r:embed="rId3">
            <a:alphaModFix/>
          </a:blip>
          <a:srcRect b="0" l="0" r="0" t="0"/>
          <a:stretch/>
        </p:blipFill>
        <p:spPr>
          <a:xfrm>
            <a:off x="643943" y="1306884"/>
            <a:ext cx="10798007" cy="526134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Sitemap Practically Step 2</a:t>
            </a:r>
            <a:endParaRPr b="1" sz="3200">
              <a:solidFill>
                <a:srgbClr val="CC6600"/>
              </a:solidFill>
              <a:latin typeface="Verdana"/>
              <a:ea typeface="Verdana"/>
              <a:cs typeface="Verdana"/>
              <a:sym typeface="Verdana"/>
            </a:endParaRPr>
          </a:p>
        </p:txBody>
      </p:sp>
      <p:pic>
        <p:nvPicPr>
          <p:cNvPr id="343" name="Google Shape;343;p37"/>
          <p:cNvPicPr preferRelativeResize="0"/>
          <p:nvPr/>
        </p:nvPicPr>
        <p:blipFill rotWithShape="1">
          <a:blip r:embed="rId3">
            <a:alphaModFix/>
          </a:blip>
          <a:srcRect b="0" l="0" r="0" t="0"/>
          <a:stretch/>
        </p:blipFill>
        <p:spPr>
          <a:xfrm>
            <a:off x="858337" y="1210934"/>
            <a:ext cx="10165977" cy="537323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8"/>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Sitemap Practically Step 3</a:t>
            </a:r>
            <a:endParaRPr b="1" sz="3200">
              <a:solidFill>
                <a:srgbClr val="CC6600"/>
              </a:solidFill>
              <a:latin typeface="Verdana"/>
              <a:ea typeface="Verdana"/>
              <a:cs typeface="Verdana"/>
              <a:sym typeface="Verdana"/>
            </a:endParaRPr>
          </a:p>
        </p:txBody>
      </p:sp>
      <p:pic>
        <p:nvPicPr>
          <p:cNvPr id="349" name="Google Shape;349;p38"/>
          <p:cNvPicPr preferRelativeResize="0"/>
          <p:nvPr/>
        </p:nvPicPr>
        <p:blipFill rotWithShape="1">
          <a:blip r:embed="rId3">
            <a:alphaModFix/>
          </a:blip>
          <a:srcRect b="0" l="0" r="0" t="0"/>
          <a:stretch/>
        </p:blipFill>
        <p:spPr>
          <a:xfrm>
            <a:off x="1071155" y="1240528"/>
            <a:ext cx="10058400" cy="51863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9"/>
          <p:cNvSpPr txBox="1"/>
          <p:nvPr/>
        </p:nvSpPr>
        <p:spPr>
          <a:xfrm>
            <a:off x="418564" y="141659"/>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SEO Friendly URLs</a:t>
            </a:r>
            <a:endParaRPr b="1" sz="3200">
              <a:solidFill>
                <a:srgbClr val="CC6600"/>
              </a:solidFill>
              <a:latin typeface="Verdana"/>
              <a:ea typeface="Verdana"/>
              <a:cs typeface="Verdana"/>
              <a:sym typeface="Verdana"/>
            </a:endParaRPr>
          </a:p>
        </p:txBody>
      </p:sp>
      <p:sp>
        <p:nvSpPr>
          <p:cNvPr id="355" name="Google Shape;355;p39"/>
          <p:cNvSpPr/>
          <p:nvPr/>
        </p:nvSpPr>
        <p:spPr>
          <a:xfrm>
            <a:off x="418564" y="772730"/>
            <a:ext cx="10592873" cy="6014439"/>
          </a:xfrm>
          <a:prstGeom prst="rect">
            <a:avLst/>
          </a:prstGeom>
          <a:noFill/>
          <a:ln>
            <a:noFill/>
          </a:ln>
        </p:spPr>
        <p:txBody>
          <a:bodyPr anchorCtr="0" anchor="ctr" bIns="45700" lIns="91425" spcFirstLastPara="1" rIns="91425" wrap="square" tIns="45700">
            <a:noAutofit/>
          </a:bodyPr>
          <a:lstStyle/>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Use the Keyword in the URL.</a:t>
            </a:r>
            <a:endParaRPr/>
          </a:p>
          <a:p>
            <a:pPr indent="-304800" lvl="0" marL="457200" marR="0" rtl="0" algn="l">
              <a:spcBef>
                <a:spcPts val="0"/>
              </a:spcBef>
              <a:spcAft>
                <a:spcPts val="0"/>
              </a:spcAft>
              <a:buClr>
                <a:schemeClr val="dk1"/>
              </a:buClr>
              <a:buSzPts val="2400"/>
              <a:buFont typeface="Calibri"/>
              <a:buNone/>
            </a:pPr>
            <a:r>
              <a:t/>
            </a:r>
            <a:endParaRPr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Never include Special Characters.</a:t>
            </a:r>
            <a:endParaRPr/>
          </a:p>
          <a:p>
            <a:pPr indent="-304800" lvl="0" marL="457200" marR="0" rtl="0" algn="l">
              <a:spcBef>
                <a:spcPts val="0"/>
              </a:spcBef>
              <a:spcAft>
                <a:spcPts val="0"/>
              </a:spcAft>
              <a:buClr>
                <a:schemeClr val="dk1"/>
              </a:buClr>
              <a:buSzPts val="2400"/>
              <a:buFont typeface="Calibri"/>
              <a:buNone/>
            </a:pPr>
            <a:r>
              <a:t/>
            </a:r>
            <a:endParaRPr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Connect URL to the Page Title.(Not matching exactly but there should be some connection)</a:t>
            </a:r>
            <a:endParaRPr/>
          </a:p>
          <a:p>
            <a:pPr indent="-304800" lvl="0" marL="457200" marR="0" rtl="0" algn="l">
              <a:spcBef>
                <a:spcPts val="0"/>
              </a:spcBef>
              <a:spcAft>
                <a:spcPts val="0"/>
              </a:spcAft>
              <a:buClr>
                <a:schemeClr val="dk1"/>
              </a:buClr>
              <a:buSzPts val="2400"/>
              <a:buFont typeface="Calibri"/>
              <a:buNone/>
            </a:pPr>
            <a:r>
              <a:t/>
            </a:r>
            <a:endParaRPr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Avoid Automated Numeric Labels.</a:t>
            </a:r>
            <a:endParaRPr/>
          </a:p>
          <a:p>
            <a:pPr indent="-304800" lvl="0" marL="457200" marR="0" rtl="0" algn="l">
              <a:spcBef>
                <a:spcPts val="0"/>
              </a:spcBef>
              <a:spcAft>
                <a:spcPts val="0"/>
              </a:spcAft>
              <a:buClr>
                <a:schemeClr val="dk1"/>
              </a:buClr>
              <a:buSzPts val="2400"/>
              <a:buFont typeface="Calibri"/>
              <a:buNone/>
            </a:pPr>
            <a:r>
              <a:t/>
            </a:r>
            <a:endParaRPr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Characters in a URL should be lowercase.(Most CMS will allow you to have uppercase letters in a URL i.e. </a:t>
            </a:r>
            <a:r>
              <a:rPr lang="en-US" sz="2400" u="sng">
                <a:solidFill>
                  <a:srgbClr val="CC6600"/>
                </a:solidFill>
                <a:latin typeface="Calibri"/>
                <a:ea typeface="Calibri"/>
                <a:cs typeface="Calibri"/>
                <a:sym typeface="Calibri"/>
                <a:hlinkClick r:id="rId3">
                  <a:extLst>
                    <a:ext uri="{A12FA001-AC4F-418D-AE19-62706E023703}">
                      <ahyp:hlinkClr val="tx"/>
                    </a:ext>
                  </a:extLst>
                </a:hlinkClick>
              </a:rPr>
              <a:t>www.example.com/My-URL</a:t>
            </a:r>
            <a:r>
              <a:rPr lang="en-US" sz="2400">
                <a:solidFill>
                  <a:srgbClr val="CC6600"/>
                </a:solidFill>
                <a:latin typeface="Calibri"/>
                <a:ea typeface="Calibri"/>
                <a:cs typeface="Calibri"/>
                <a:sym typeface="Calibri"/>
              </a:rPr>
              <a:t> but have in mind that this is different from </a:t>
            </a:r>
            <a:r>
              <a:rPr lang="en-US" sz="2400" u="sng">
                <a:solidFill>
                  <a:srgbClr val="CC6600"/>
                </a:solidFill>
                <a:latin typeface="Calibri"/>
                <a:ea typeface="Calibri"/>
                <a:cs typeface="Calibri"/>
                <a:sym typeface="Calibri"/>
                <a:hlinkClick r:id="rId4">
                  <a:extLst>
                    <a:ext uri="{A12FA001-AC4F-418D-AE19-62706E023703}">
                      <ahyp:hlinkClr val="tx"/>
                    </a:ext>
                  </a:extLst>
                </a:hlinkClick>
              </a:rPr>
              <a:t>www.example.my-url</a:t>
            </a:r>
            <a:r>
              <a:rPr lang="en-US" sz="2400">
                <a:solidFill>
                  <a:srgbClr val="CC6600"/>
                </a:solidFill>
                <a:latin typeface="Calibri"/>
                <a:ea typeface="Calibri"/>
                <a:cs typeface="Calibri"/>
                <a:sym typeface="Calibri"/>
              </a:rPr>
              <a:t>)</a:t>
            </a:r>
            <a:endParaRPr/>
          </a:p>
          <a:p>
            <a:pPr indent="-304800" lvl="0" marL="457200" marR="0" rtl="0" algn="l">
              <a:spcBef>
                <a:spcPts val="0"/>
              </a:spcBef>
              <a:spcAft>
                <a:spcPts val="0"/>
              </a:spcAft>
              <a:buClr>
                <a:schemeClr val="dk1"/>
              </a:buClr>
              <a:buSzPts val="2400"/>
              <a:buFont typeface="Calibri"/>
              <a:buNone/>
            </a:pPr>
            <a:r>
              <a:t/>
            </a:r>
            <a:endParaRPr sz="2400">
              <a:solidFill>
                <a:srgbClr val="CC6600"/>
              </a:solidFill>
              <a:latin typeface="Calibri"/>
              <a:ea typeface="Calibri"/>
              <a:cs typeface="Calibri"/>
              <a:sym typeface="Calibri"/>
            </a:endParaRPr>
          </a:p>
          <a:p>
            <a:pPr indent="-457200" lvl="0" marL="457200" marR="0" rtl="0" algn="l">
              <a:spcBef>
                <a:spcPts val="0"/>
              </a:spcBef>
              <a:spcAft>
                <a:spcPts val="0"/>
              </a:spcAft>
              <a:buClr>
                <a:srgbClr val="CC6600"/>
              </a:buClr>
              <a:buSzPts val="2400"/>
              <a:buFont typeface="Calibri"/>
              <a:buAutoNum type="arabicPeriod"/>
            </a:pPr>
            <a:r>
              <a:rPr lang="en-US" sz="2400">
                <a:solidFill>
                  <a:srgbClr val="CC6600"/>
                </a:solidFill>
                <a:latin typeface="Calibri"/>
                <a:ea typeface="Calibri"/>
                <a:cs typeface="Calibri"/>
                <a:sym typeface="Calibri"/>
              </a:rPr>
              <a:t>Indirectly URLs can help in Backlinking.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SEO Friendly URLs</a:t>
            </a:r>
            <a:endParaRPr b="1" sz="3200">
              <a:solidFill>
                <a:srgbClr val="CC6600"/>
              </a:solidFill>
              <a:latin typeface="Verdana"/>
              <a:ea typeface="Verdana"/>
              <a:cs typeface="Verdana"/>
              <a:sym typeface="Verdana"/>
            </a:endParaRPr>
          </a:p>
        </p:txBody>
      </p:sp>
      <p:sp>
        <p:nvSpPr>
          <p:cNvPr id="361" name="Google Shape;361;p40"/>
          <p:cNvSpPr/>
          <p:nvPr/>
        </p:nvSpPr>
        <p:spPr>
          <a:xfrm>
            <a:off x="418564" y="1210603"/>
            <a:ext cx="11153105" cy="682593"/>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CC6600"/>
                </a:solidFill>
                <a:latin typeface="Calibri"/>
                <a:ea typeface="Calibri"/>
                <a:cs typeface="Calibri"/>
                <a:sym typeface="Calibri"/>
              </a:rPr>
              <a:t>https://blog.alexa.com/create-complete-seo-audit-report-clients/</a:t>
            </a:r>
            <a:endParaRPr/>
          </a:p>
        </p:txBody>
      </p:sp>
      <p:sp>
        <p:nvSpPr>
          <p:cNvPr id="362" name="Google Shape;362;p40"/>
          <p:cNvSpPr/>
          <p:nvPr/>
        </p:nvSpPr>
        <p:spPr>
          <a:xfrm>
            <a:off x="418564" y="2240921"/>
            <a:ext cx="11153105" cy="2116954"/>
          </a:xfrm>
          <a:prstGeom prst="rect">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rgbClr val="CC6600"/>
                </a:solidFill>
                <a:latin typeface="Calibri"/>
                <a:ea typeface="Calibri"/>
                <a:cs typeface="Calibri"/>
                <a:sym typeface="Calibri"/>
              </a:rPr>
              <a:t>Fewer Folder :</a:t>
            </a:r>
            <a:endParaRPr/>
          </a:p>
          <a:p>
            <a:pPr indent="0" lvl="0" marL="0" marR="0" rtl="0" algn="l">
              <a:spcBef>
                <a:spcPts val="0"/>
              </a:spcBef>
              <a:spcAft>
                <a:spcPts val="0"/>
              </a:spcAft>
              <a:buNone/>
            </a:pPr>
            <a:r>
              <a:t/>
            </a:r>
            <a:endParaRPr b="1" sz="36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u="sng">
                <a:solidFill>
                  <a:srgbClr val="CC6600"/>
                </a:solidFill>
                <a:latin typeface="Calibri"/>
                <a:ea typeface="Calibri"/>
                <a:cs typeface="Calibri"/>
                <a:sym typeface="Calibri"/>
                <a:hlinkClick r:id="rId3">
                  <a:extLst>
                    <a:ext uri="{A12FA001-AC4F-418D-AE19-62706E023703}">
                      <ahyp:hlinkClr val="tx"/>
                    </a:ext>
                  </a:extLst>
                </a:hlinkClick>
              </a:rPr>
              <a:t>www.example.com/categories/subcategories/producttype/product/product1/</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u="sng">
                <a:solidFill>
                  <a:srgbClr val="CC6600"/>
                </a:solidFill>
                <a:latin typeface="Calibri"/>
                <a:ea typeface="Calibri"/>
                <a:cs typeface="Calibri"/>
                <a:sym typeface="Calibri"/>
                <a:hlinkClick r:id="rId4">
                  <a:extLst>
                    <a:ext uri="{A12FA001-AC4F-418D-AE19-62706E023703}">
                      <ahyp:hlinkClr val="tx"/>
                    </a:ext>
                  </a:extLst>
                </a:hlinkClick>
              </a:rPr>
              <a:t>www.example.com/categories/subcategories/product1/</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Use only level 1, or level 2 if necessary then only level 3</a:t>
            </a:r>
            <a:endParaRPr/>
          </a:p>
        </p:txBody>
      </p:sp>
      <p:grpSp>
        <p:nvGrpSpPr>
          <p:cNvPr id="363" name="Google Shape;363;p40"/>
          <p:cNvGrpSpPr/>
          <p:nvPr/>
        </p:nvGrpSpPr>
        <p:grpSpPr>
          <a:xfrm>
            <a:off x="1315630" y="4854766"/>
            <a:ext cx="8351261" cy="1334017"/>
            <a:chOff x="1315630" y="4300974"/>
            <a:chExt cx="8351261" cy="1334017"/>
          </a:xfrm>
        </p:grpSpPr>
        <p:sp>
          <p:nvSpPr>
            <p:cNvPr id="364" name="Google Shape;364;p40"/>
            <p:cNvSpPr/>
            <p:nvPr/>
          </p:nvSpPr>
          <p:spPr>
            <a:xfrm>
              <a:off x="1315630" y="5111771"/>
              <a:ext cx="835126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u="sng">
                  <a:solidFill>
                    <a:srgbClr val="CC6600"/>
                  </a:solidFill>
                  <a:latin typeface="Calibri"/>
                  <a:ea typeface="Calibri"/>
                  <a:cs typeface="Calibri"/>
                  <a:sym typeface="Calibri"/>
                  <a:hlinkClick r:id="rId5">
                    <a:extLst>
                      <a:ext uri="{A12FA001-AC4F-418D-AE19-62706E023703}">
                        <ahyp:hlinkClr val="tx"/>
                      </a:ext>
                    </a:extLst>
                  </a:hlinkClick>
                </a:rPr>
                <a:t>www.example.com/categories/subcategories/product1/</a:t>
              </a:r>
              <a:endParaRPr sz="2800">
                <a:solidFill>
                  <a:srgbClr val="CC6600"/>
                </a:solidFill>
                <a:latin typeface="Calibri"/>
                <a:ea typeface="Calibri"/>
                <a:cs typeface="Calibri"/>
                <a:sym typeface="Calibri"/>
              </a:endParaRPr>
            </a:p>
          </p:txBody>
        </p:sp>
        <p:sp>
          <p:nvSpPr>
            <p:cNvPr id="365" name="Google Shape;365;p40"/>
            <p:cNvSpPr/>
            <p:nvPr/>
          </p:nvSpPr>
          <p:spPr>
            <a:xfrm>
              <a:off x="4430335" y="4327302"/>
              <a:ext cx="1133341" cy="837126"/>
            </a:xfrm>
            <a:prstGeom prst="wedgeRectCallout">
              <a:avLst>
                <a:gd fmla="val -20833" name="adj1"/>
                <a:gd fmla="val 62500" name="adj2"/>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Level 1</a:t>
              </a:r>
              <a:endParaRPr b="1" sz="2400">
                <a:solidFill>
                  <a:schemeClr val="lt1"/>
                </a:solidFill>
                <a:latin typeface="Calibri"/>
                <a:ea typeface="Calibri"/>
                <a:cs typeface="Calibri"/>
                <a:sym typeface="Calibri"/>
              </a:endParaRPr>
            </a:p>
          </p:txBody>
        </p:sp>
        <p:sp>
          <p:nvSpPr>
            <p:cNvPr id="366" name="Google Shape;366;p40"/>
            <p:cNvSpPr/>
            <p:nvPr/>
          </p:nvSpPr>
          <p:spPr>
            <a:xfrm>
              <a:off x="6295624" y="4300974"/>
              <a:ext cx="1133341" cy="837126"/>
            </a:xfrm>
            <a:prstGeom prst="wedgeRectCallout">
              <a:avLst>
                <a:gd fmla="val -20833" name="adj1"/>
                <a:gd fmla="val 62500" name="adj2"/>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Level 2</a:t>
              </a:r>
              <a:endParaRPr b="1" sz="2400">
                <a:solidFill>
                  <a:schemeClr val="lt1"/>
                </a:solidFill>
                <a:latin typeface="Calibri"/>
                <a:ea typeface="Calibri"/>
                <a:cs typeface="Calibri"/>
                <a:sym typeface="Calibri"/>
              </a:endParaRPr>
            </a:p>
          </p:txBody>
        </p:sp>
        <p:sp>
          <p:nvSpPr>
            <p:cNvPr id="367" name="Google Shape;367;p40"/>
            <p:cNvSpPr/>
            <p:nvPr/>
          </p:nvSpPr>
          <p:spPr>
            <a:xfrm>
              <a:off x="8186671" y="4327302"/>
              <a:ext cx="1133341" cy="837126"/>
            </a:xfrm>
            <a:prstGeom prst="wedgeRectCallout">
              <a:avLst>
                <a:gd fmla="val -20833" name="adj1"/>
                <a:gd fmla="val 62500" name="adj2"/>
              </a:avLst>
            </a:prstGeom>
            <a:solidFill>
              <a:srgbClr val="FF993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Level 3</a:t>
              </a:r>
              <a:endParaRPr b="1" sz="2400">
                <a:solidFill>
                  <a:schemeClr val="lt1"/>
                </a:solidFill>
                <a:latin typeface="Calibri"/>
                <a:ea typeface="Calibri"/>
                <a:cs typeface="Calibri"/>
                <a:sym typeface="Calibri"/>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Alt Text Optimization</a:t>
            </a:r>
            <a:endParaRPr/>
          </a:p>
        </p:txBody>
      </p:sp>
      <p:sp>
        <p:nvSpPr>
          <p:cNvPr id="373" name="Google Shape;373;p41"/>
          <p:cNvSpPr/>
          <p:nvPr/>
        </p:nvSpPr>
        <p:spPr>
          <a:xfrm>
            <a:off x="418564" y="850007"/>
            <a:ext cx="10592873" cy="594359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CC6600"/>
                </a:solidFill>
                <a:latin typeface="Calibri"/>
                <a:ea typeface="Calibri"/>
                <a:cs typeface="Calibri"/>
                <a:sym typeface="Calibri"/>
              </a:rPr>
              <a:t>Alternate text or Alt text is a feature added to an image tag in HTML. </a:t>
            </a:r>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It appears in a blank image box when the image cannot be displayed for some reason like slow connection, broken URL or user is using a screen reader.</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Alt text is designed to optimize images for speed and SEO. It helps search engines know what an image is about as they cannot see or interpret images.</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EX: &lt;img src=“example.jpg” alt=“about alt text”&gt;</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Keep it optimum in the length.</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Use only primary keywords.</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Avoid Keyword Stuffing.</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Don’t use “Image of ” “photo of”(Ex. “this is image of digital marketing”)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Alt Text Optimization</a:t>
            </a:r>
            <a:endParaRPr/>
          </a:p>
        </p:txBody>
      </p:sp>
      <p:sp>
        <p:nvSpPr>
          <p:cNvPr id="379" name="Google Shape;379;p42"/>
          <p:cNvSpPr/>
          <p:nvPr/>
        </p:nvSpPr>
        <p:spPr>
          <a:xfrm>
            <a:off x="418564" y="1068950"/>
            <a:ext cx="11404242" cy="45977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rgbClr val="CC6600"/>
                </a:solidFill>
                <a:latin typeface="Calibri"/>
                <a:ea typeface="Calibri"/>
                <a:cs typeface="Calibri"/>
                <a:sym typeface="Calibri"/>
              </a:rPr>
              <a:t>Desired Format</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Eg	:&lt;img src=“example.jpg” alt=“”&gt;(Not Recommended)</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Eg	:&lt;img src=“example.jpg” alt=“digital marketing”&gt;</a:t>
            </a:r>
            <a:r>
              <a:rPr b="1" lang="en-US" sz="2800">
                <a:solidFill>
                  <a:srgbClr val="CC6600"/>
                </a:solidFill>
                <a:latin typeface="Calibri"/>
                <a:ea typeface="Calibri"/>
                <a:cs typeface="Calibri"/>
                <a:sym typeface="Calibri"/>
              </a:rPr>
              <a:t>OK</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Eg	:&lt;img src=“example.jpg” alt=“Digital Marketing Course in Hindi”&gt;</a:t>
            </a:r>
            <a:r>
              <a:rPr b="1" lang="en-US" sz="2800">
                <a:solidFill>
                  <a:srgbClr val="CC6600"/>
                </a:solidFill>
                <a:latin typeface="Calibri"/>
                <a:ea typeface="Calibri"/>
                <a:cs typeface="Calibri"/>
                <a:sym typeface="Calibri"/>
              </a:rPr>
              <a:t>Excellent</a:t>
            </a:r>
            <a:endParaRPr/>
          </a:p>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l">
              <a:spcBef>
                <a:spcPts val="0"/>
              </a:spcBef>
              <a:spcAft>
                <a:spcPts val="0"/>
              </a:spcAft>
              <a:buNone/>
            </a:pPr>
            <a:r>
              <a:rPr lang="en-US" sz="2400">
                <a:solidFill>
                  <a:srgbClr val="CC6600"/>
                </a:solidFill>
                <a:latin typeface="Calibri"/>
                <a:ea typeface="Calibri"/>
                <a:cs typeface="Calibri"/>
                <a:sym typeface="Calibri"/>
              </a:rPr>
              <a:t>Eg	:&lt;img src=“example.jpg” alt=“the only digital marketing course in Hindi Digital 	 	 marketing  learn complete digital marketing here”&gt;(Keyword Stuffing)</a:t>
            </a:r>
            <a:endParaRPr/>
          </a:p>
        </p:txBody>
      </p:sp>
      <p:sp>
        <p:nvSpPr>
          <p:cNvPr id="380" name="Google Shape;380;p42"/>
          <p:cNvSpPr/>
          <p:nvPr/>
        </p:nvSpPr>
        <p:spPr>
          <a:xfrm>
            <a:off x="7920507" y="2356834"/>
            <a:ext cx="605307" cy="373487"/>
          </a:xfrm>
          <a:prstGeom prst="mathMultiply">
            <a:avLst>
              <a:gd fmla="val 23520" name="adj1"/>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42"/>
          <p:cNvSpPr/>
          <p:nvPr/>
        </p:nvSpPr>
        <p:spPr>
          <a:xfrm>
            <a:off x="10043375" y="4930462"/>
            <a:ext cx="605307" cy="373487"/>
          </a:xfrm>
          <a:prstGeom prst="mathMultiply">
            <a:avLst>
              <a:gd fmla="val 23520" name="adj1"/>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3"/>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Internal Links</a:t>
            </a:r>
            <a:endParaRPr/>
          </a:p>
        </p:txBody>
      </p:sp>
      <p:sp>
        <p:nvSpPr>
          <p:cNvPr id="387" name="Google Shape;387;p43"/>
          <p:cNvSpPr/>
          <p:nvPr/>
        </p:nvSpPr>
        <p:spPr>
          <a:xfrm>
            <a:off x="418564" y="1068950"/>
            <a:ext cx="11404242" cy="45977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p:txBody>
      </p:sp>
      <p:sp>
        <p:nvSpPr>
          <p:cNvPr id="388" name="Google Shape;388;p43"/>
          <p:cNvSpPr/>
          <p:nvPr/>
        </p:nvSpPr>
        <p:spPr>
          <a:xfrm>
            <a:off x="418564" y="1068950"/>
            <a:ext cx="10592873" cy="35674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rgbClr val="FF0000"/>
                </a:solidFill>
                <a:latin typeface="Calibri"/>
                <a:ea typeface="Calibri"/>
                <a:cs typeface="Calibri"/>
                <a:sym typeface="Calibri"/>
              </a:rPr>
              <a:t>Internal Links occurs </a:t>
            </a:r>
            <a:r>
              <a:rPr b="1" lang="en-US" sz="2400">
                <a:solidFill>
                  <a:srgbClr val="FF0000"/>
                </a:solidFill>
                <a:latin typeface="Calibri"/>
                <a:ea typeface="Calibri"/>
                <a:cs typeface="Calibri"/>
                <a:sym typeface="Calibri"/>
              </a:rPr>
              <a:t>when you link one of your page to another page of yours.</a:t>
            </a:r>
            <a:endParaRPr/>
          </a:p>
          <a:p>
            <a:pPr indent="0" lvl="0" marL="0" marR="0" rtl="0" algn="l">
              <a:spcBef>
                <a:spcPts val="0"/>
              </a:spcBef>
              <a:spcAft>
                <a:spcPts val="0"/>
              </a:spcAft>
              <a:buNone/>
            </a:pPr>
            <a:r>
              <a:t/>
            </a:r>
            <a:endParaRPr b="1" sz="2400">
              <a:solidFill>
                <a:srgbClr val="FF0000"/>
              </a:solidFill>
              <a:latin typeface="Calibri"/>
              <a:ea typeface="Calibri"/>
              <a:cs typeface="Calibri"/>
              <a:sym typeface="Calibri"/>
            </a:endParaRPr>
          </a:p>
          <a:p>
            <a:pPr indent="0" lvl="0" marL="0" marR="0" rtl="0" algn="l">
              <a:spcBef>
                <a:spcPts val="0"/>
              </a:spcBef>
              <a:spcAft>
                <a:spcPts val="0"/>
              </a:spcAft>
              <a:buNone/>
            </a:pPr>
            <a:r>
              <a:rPr b="1" lang="en-US" sz="2400">
                <a:solidFill>
                  <a:srgbClr val="FF0000"/>
                </a:solidFill>
                <a:latin typeface="Calibri"/>
                <a:ea typeface="Calibri"/>
                <a:cs typeface="Calibri"/>
                <a:sym typeface="Calibri"/>
              </a:rPr>
              <a:t>Note: </a:t>
            </a:r>
            <a:r>
              <a:rPr lang="en-US" sz="2400">
                <a:solidFill>
                  <a:srgbClr val="FF0000"/>
                </a:solidFill>
                <a:latin typeface="Calibri"/>
                <a:ea typeface="Calibri"/>
                <a:cs typeface="Calibri"/>
                <a:sym typeface="Calibri"/>
              </a:rPr>
              <a:t>Internal Linking shall not be overdone(best kept 3-4).Link only when it is necessary.</a:t>
            </a:r>
            <a:endParaRPr/>
          </a:p>
          <a:p>
            <a:pPr indent="0" lvl="0" marL="0" marR="0" rtl="0" algn="l">
              <a:spcBef>
                <a:spcPts val="0"/>
              </a:spcBef>
              <a:spcAft>
                <a:spcPts val="0"/>
              </a:spcAft>
              <a:buNone/>
            </a:pPr>
            <a:r>
              <a:t/>
            </a:r>
            <a:endParaRPr sz="2400">
              <a:solidFill>
                <a:srgbClr val="FF0000"/>
              </a:solidFill>
              <a:latin typeface="Calibri"/>
              <a:ea typeface="Calibri"/>
              <a:cs typeface="Calibri"/>
              <a:sym typeface="Calibri"/>
            </a:endParaRPr>
          </a:p>
          <a:p>
            <a:pPr indent="0" lvl="0" marL="0" marR="0" rtl="0" algn="l">
              <a:spcBef>
                <a:spcPts val="0"/>
              </a:spcBef>
              <a:spcAft>
                <a:spcPts val="0"/>
              </a:spcAft>
              <a:buNone/>
            </a:pPr>
            <a:r>
              <a:rPr lang="en-US" sz="2400">
                <a:solidFill>
                  <a:srgbClr val="FF0000"/>
                </a:solidFill>
                <a:latin typeface="Calibri"/>
                <a:ea typeface="Calibri"/>
                <a:cs typeface="Calibri"/>
                <a:sym typeface="Calibri"/>
              </a:rPr>
              <a:t>EX:</a:t>
            </a:r>
            <a:endParaRPr/>
          </a:p>
          <a:p>
            <a:pPr indent="0" lvl="0" marL="0" marR="0" rtl="0" algn="l">
              <a:spcBef>
                <a:spcPts val="0"/>
              </a:spcBef>
              <a:spcAft>
                <a:spcPts val="0"/>
              </a:spcAft>
              <a:buNone/>
            </a:pPr>
            <a:r>
              <a:t/>
            </a:r>
            <a:endParaRPr sz="2400">
              <a:solidFill>
                <a:srgbClr val="FF0000"/>
              </a:solidFill>
              <a:latin typeface="Calibri"/>
              <a:ea typeface="Calibri"/>
              <a:cs typeface="Calibri"/>
              <a:sym typeface="Calibri"/>
            </a:endParaRPr>
          </a:p>
          <a:p>
            <a:pPr indent="0" lvl="0" marL="0" marR="0" rtl="0" algn="l">
              <a:spcBef>
                <a:spcPts val="0"/>
              </a:spcBef>
              <a:spcAft>
                <a:spcPts val="0"/>
              </a:spcAft>
              <a:buNone/>
            </a:pPr>
            <a:r>
              <a:rPr lang="en-US" sz="2400">
                <a:solidFill>
                  <a:srgbClr val="FF0000"/>
                </a:solidFill>
                <a:latin typeface="Calibri"/>
                <a:ea typeface="Calibri"/>
                <a:cs typeface="Calibri"/>
                <a:sym typeface="Calibri"/>
              </a:rPr>
              <a:t>	www.example.com/page-1</a:t>
            </a:r>
            <a:endParaRPr/>
          </a:p>
          <a:p>
            <a:pPr indent="0" lvl="0" marL="0" marR="0" rtl="0" algn="l">
              <a:spcBef>
                <a:spcPts val="0"/>
              </a:spcBef>
              <a:spcAft>
                <a:spcPts val="0"/>
              </a:spcAft>
              <a:buNone/>
            </a:pPr>
            <a:r>
              <a:rPr lang="en-US" sz="2400">
                <a:solidFill>
                  <a:srgbClr val="FF0000"/>
                </a:solidFill>
                <a:latin typeface="Calibri"/>
                <a:ea typeface="Calibri"/>
                <a:cs typeface="Calibri"/>
                <a:sym typeface="Calibri"/>
              </a:rPr>
              <a:t>	www.example .com/page-2</a:t>
            </a:r>
            <a:endParaRPr/>
          </a:p>
        </p:txBody>
      </p:sp>
      <p:grpSp>
        <p:nvGrpSpPr>
          <p:cNvPr id="389" name="Google Shape;389;p43"/>
          <p:cNvGrpSpPr/>
          <p:nvPr/>
        </p:nvGrpSpPr>
        <p:grpSpPr>
          <a:xfrm>
            <a:off x="3951434" y="3681807"/>
            <a:ext cx="7199033" cy="2547026"/>
            <a:chOff x="483" y="526486"/>
            <a:chExt cx="7199033" cy="2547026"/>
          </a:xfrm>
        </p:grpSpPr>
        <p:sp>
          <p:nvSpPr>
            <p:cNvPr id="390" name="Google Shape;390;p43"/>
            <p:cNvSpPr/>
            <p:nvPr/>
          </p:nvSpPr>
          <p:spPr>
            <a:xfrm>
              <a:off x="3600000" y="1578977"/>
              <a:ext cx="2547026" cy="442045"/>
            </a:xfrm>
            <a:custGeom>
              <a:rect b="b" l="l" r="r" t="t"/>
              <a:pathLst>
                <a:path extrusionOk="0" h="120000" w="120000">
                  <a:moveTo>
                    <a:pt x="0" y="0"/>
                  </a:moveTo>
                  <a:lnTo>
                    <a:pt x="0" y="60000"/>
                  </a:lnTo>
                  <a:lnTo>
                    <a:pt x="120000" y="60000"/>
                  </a:lnTo>
                  <a:lnTo>
                    <a:pt x="120000" y="120000"/>
                  </a:lnTo>
                </a:path>
              </a:pathLst>
            </a:custGeom>
            <a:noFill/>
            <a:ln cap="flat" cmpd="sng" w="12700">
              <a:solidFill>
                <a:srgbClr val="487AA8"/>
              </a:solidFill>
              <a:prstDash val="solid"/>
              <a:miter lim="800000"/>
              <a:headEnd len="sm" w="sm" type="none"/>
              <a:tailEnd len="sm" w="sm" type="none"/>
            </a:ln>
          </p:spPr>
        </p:sp>
        <p:sp>
          <p:nvSpPr>
            <p:cNvPr id="391" name="Google Shape;391;p43"/>
            <p:cNvSpPr/>
            <p:nvPr/>
          </p:nvSpPr>
          <p:spPr>
            <a:xfrm>
              <a:off x="3554280" y="1578977"/>
              <a:ext cx="91440" cy="442045"/>
            </a:xfrm>
            <a:custGeom>
              <a:rect b="b" l="l" r="r" t="t"/>
              <a:pathLst>
                <a:path extrusionOk="0" h="120000" w="120000">
                  <a:moveTo>
                    <a:pt x="60000" y="0"/>
                  </a:moveTo>
                  <a:lnTo>
                    <a:pt x="60000" y="120000"/>
                  </a:lnTo>
                </a:path>
              </a:pathLst>
            </a:custGeom>
            <a:noFill/>
            <a:ln cap="flat" cmpd="sng" w="12700">
              <a:solidFill>
                <a:srgbClr val="487AA8"/>
              </a:solidFill>
              <a:prstDash val="solid"/>
              <a:miter lim="800000"/>
              <a:headEnd len="sm" w="sm" type="none"/>
              <a:tailEnd len="sm" w="sm" type="none"/>
            </a:ln>
          </p:spPr>
        </p:sp>
        <p:sp>
          <p:nvSpPr>
            <p:cNvPr id="392" name="Google Shape;392;p43"/>
            <p:cNvSpPr/>
            <p:nvPr/>
          </p:nvSpPr>
          <p:spPr>
            <a:xfrm>
              <a:off x="1052973" y="1578977"/>
              <a:ext cx="2547026" cy="442045"/>
            </a:xfrm>
            <a:custGeom>
              <a:rect b="b" l="l" r="r" t="t"/>
              <a:pathLst>
                <a:path extrusionOk="0" h="120000" w="120000">
                  <a:moveTo>
                    <a:pt x="120000" y="0"/>
                  </a:moveTo>
                  <a:lnTo>
                    <a:pt x="120000" y="60000"/>
                  </a:lnTo>
                  <a:lnTo>
                    <a:pt x="0" y="60000"/>
                  </a:lnTo>
                  <a:lnTo>
                    <a:pt x="0" y="120000"/>
                  </a:lnTo>
                </a:path>
              </a:pathLst>
            </a:custGeom>
            <a:noFill/>
            <a:ln cap="flat" cmpd="sng" w="12700">
              <a:solidFill>
                <a:srgbClr val="487AA8"/>
              </a:solidFill>
              <a:prstDash val="solid"/>
              <a:miter lim="800000"/>
              <a:headEnd len="sm" w="sm" type="none"/>
              <a:tailEnd len="sm" w="sm" type="none"/>
            </a:ln>
          </p:spPr>
        </p:sp>
        <p:sp>
          <p:nvSpPr>
            <p:cNvPr id="393" name="Google Shape;393;p43"/>
            <p:cNvSpPr/>
            <p:nvPr/>
          </p:nvSpPr>
          <p:spPr>
            <a:xfrm>
              <a:off x="2406191" y="526486"/>
              <a:ext cx="2387616" cy="1052490"/>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3"/>
            <p:cNvSpPr txBox="1"/>
            <p:nvPr/>
          </p:nvSpPr>
          <p:spPr>
            <a:xfrm>
              <a:off x="2406191" y="526486"/>
              <a:ext cx="2387616" cy="105249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b="0" lang="en-US" sz="1800">
                  <a:solidFill>
                    <a:schemeClr val="lt1"/>
                  </a:solidFill>
                  <a:latin typeface="Calibri"/>
                  <a:ea typeface="Calibri"/>
                  <a:cs typeface="Calibri"/>
                  <a:sym typeface="Calibri"/>
                </a:rPr>
                <a:t>Internal linking should always be done under strategy</a:t>
              </a:r>
              <a:endParaRPr b="0" sz="1800">
                <a:solidFill>
                  <a:schemeClr val="lt1"/>
                </a:solidFill>
                <a:latin typeface="Calibri"/>
                <a:ea typeface="Calibri"/>
                <a:cs typeface="Calibri"/>
                <a:sym typeface="Calibri"/>
              </a:endParaRPr>
            </a:p>
          </p:txBody>
        </p:sp>
        <p:sp>
          <p:nvSpPr>
            <p:cNvPr id="395" name="Google Shape;395;p43"/>
            <p:cNvSpPr/>
            <p:nvPr/>
          </p:nvSpPr>
          <p:spPr>
            <a:xfrm>
              <a:off x="483" y="2021022"/>
              <a:ext cx="2104980" cy="1052490"/>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3"/>
            <p:cNvSpPr txBox="1"/>
            <p:nvPr/>
          </p:nvSpPr>
          <p:spPr>
            <a:xfrm>
              <a:off x="483" y="2021022"/>
              <a:ext cx="2104980" cy="105249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b="0" lang="en-US" sz="1800">
                  <a:solidFill>
                    <a:schemeClr val="lt1"/>
                  </a:solidFill>
                  <a:latin typeface="Calibri"/>
                  <a:ea typeface="Calibri"/>
                  <a:cs typeface="Calibri"/>
                  <a:sym typeface="Calibri"/>
                </a:rPr>
                <a:t>The Relevance of pages</a:t>
              </a:r>
              <a:endParaRPr b="0" sz="1800">
                <a:solidFill>
                  <a:schemeClr val="lt1"/>
                </a:solidFill>
                <a:latin typeface="Calibri"/>
                <a:ea typeface="Calibri"/>
                <a:cs typeface="Calibri"/>
                <a:sym typeface="Calibri"/>
              </a:endParaRPr>
            </a:p>
          </p:txBody>
        </p:sp>
        <p:sp>
          <p:nvSpPr>
            <p:cNvPr id="397" name="Google Shape;397;p43"/>
            <p:cNvSpPr/>
            <p:nvPr/>
          </p:nvSpPr>
          <p:spPr>
            <a:xfrm>
              <a:off x="2547509" y="2021022"/>
              <a:ext cx="2104980" cy="1052490"/>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3"/>
            <p:cNvSpPr txBox="1"/>
            <p:nvPr/>
          </p:nvSpPr>
          <p:spPr>
            <a:xfrm>
              <a:off x="2547509" y="2021022"/>
              <a:ext cx="2104980" cy="105249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b="0" lang="en-US" sz="1800">
                  <a:solidFill>
                    <a:schemeClr val="lt1"/>
                  </a:solidFill>
                  <a:latin typeface="Calibri"/>
                  <a:ea typeface="Calibri"/>
                  <a:cs typeface="Calibri"/>
                  <a:sym typeface="Calibri"/>
                </a:rPr>
                <a:t>The relationship between pages</a:t>
              </a:r>
              <a:endParaRPr b="0" sz="1800">
                <a:solidFill>
                  <a:schemeClr val="lt1"/>
                </a:solidFill>
                <a:latin typeface="Calibri"/>
                <a:ea typeface="Calibri"/>
                <a:cs typeface="Calibri"/>
                <a:sym typeface="Calibri"/>
              </a:endParaRPr>
            </a:p>
          </p:txBody>
        </p:sp>
        <p:sp>
          <p:nvSpPr>
            <p:cNvPr id="399" name="Google Shape;399;p43"/>
            <p:cNvSpPr/>
            <p:nvPr/>
          </p:nvSpPr>
          <p:spPr>
            <a:xfrm>
              <a:off x="5094536" y="2021022"/>
              <a:ext cx="2104980" cy="1052490"/>
            </a:xfrm>
            <a:prstGeom prst="rect">
              <a:avLst/>
            </a:prstGeom>
            <a:solidFill>
              <a:srgbClr val="CC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3"/>
            <p:cNvSpPr txBox="1"/>
            <p:nvPr/>
          </p:nvSpPr>
          <p:spPr>
            <a:xfrm>
              <a:off x="5094536" y="2021022"/>
              <a:ext cx="2104980" cy="105249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b="0" lang="en-US" sz="1800">
                  <a:solidFill>
                    <a:schemeClr val="lt1"/>
                  </a:solidFill>
                  <a:latin typeface="Calibri"/>
                  <a:ea typeface="Calibri"/>
                  <a:cs typeface="Calibri"/>
                  <a:sym typeface="Calibri"/>
                </a:rPr>
                <a:t>Value of pages</a:t>
              </a:r>
              <a:endParaRPr b="0" sz="1800">
                <a:solidFill>
                  <a:schemeClr val="lt1"/>
                </a:solidFill>
                <a:latin typeface="Calibri"/>
                <a:ea typeface="Calibri"/>
                <a:cs typeface="Calibri"/>
                <a:sym typeface="Calibri"/>
              </a:endParaRPr>
            </a:p>
          </p:txBody>
        </p:sp>
      </p:grpSp>
      <p:sp>
        <p:nvSpPr>
          <p:cNvPr id="401" name="Google Shape;401;p43"/>
          <p:cNvSpPr/>
          <p:nvPr/>
        </p:nvSpPr>
        <p:spPr>
          <a:xfrm>
            <a:off x="1056068" y="3631845"/>
            <a:ext cx="283335" cy="618186"/>
          </a:xfrm>
          <a:prstGeom prst="curvedRightArrow">
            <a:avLst>
              <a:gd fmla="val 25000" name="adj1"/>
              <a:gd fmla="val 50000" name="adj2"/>
              <a:gd fmla="val 25000" name="adj3"/>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43"/>
          <p:cNvSpPr/>
          <p:nvPr/>
        </p:nvSpPr>
        <p:spPr>
          <a:xfrm rot="10800000">
            <a:off x="4840309" y="3631845"/>
            <a:ext cx="375634" cy="618186"/>
          </a:xfrm>
          <a:prstGeom prst="curvedRightArrow">
            <a:avLst>
              <a:gd fmla="val 25000" name="adj1"/>
              <a:gd fmla="val 50000" name="adj2"/>
              <a:gd fmla="val 25000" name="adj3"/>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5"/>
          <p:cNvSpPr/>
          <p:nvPr/>
        </p:nvSpPr>
        <p:spPr>
          <a:xfrm>
            <a:off x="0" y="1068950"/>
            <a:ext cx="10921285" cy="5789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p:txBody>
      </p:sp>
      <p:sp>
        <p:nvSpPr>
          <p:cNvPr id="408" name="Google Shape;408;p45"/>
          <p:cNvSpPr/>
          <p:nvPr/>
        </p:nvSpPr>
        <p:spPr>
          <a:xfrm>
            <a:off x="418564" y="1068950"/>
            <a:ext cx="10592873" cy="35674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FF0000"/>
              </a:solidFill>
              <a:latin typeface="Calibri"/>
              <a:ea typeface="Calibri"/>
              <a:cs typeface="Calibri"/>
              <a:sym typeface="Calibri"/>
            </a:endParaRPr>
          </a:p>
        </p:txBody>
      </p:sp>
      <p:pic>
        <p:nvPicPr>
          <p:cNvPr id="409" name="Google Shape;409;p45"/>
          <p:cNvPicPr preferRelativeResize="0"/>
          <p:nvPr/>
        </p:nvPicPr>
        <p:blipFill rotWithShape="1">
          <a:blip r:embed="rId3">
            <a:alphaModFix/>
          </a:blip>
          <a:srcRect b="0" l="0" r="0" t="0"/>
          <a:stretch/>
        </p:blipFill>
        <p:spPr>
          <a:xfrm>
            <a:off x="31216" y="0"/>
            <a:ext cx="12160784"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6"/>
          <p:cNvSpPr/>
          <p:nvPr/>
        </p:nvSpPr>
        <p:spPr>
          <a:xfrm>
            <a:off x="0" y="1068950"/>
            <a:ext cx="10921285" cy="5789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p:txBody>
      </p:sp>
      <p:sp>
        <p:nvSpPr>
          <p:cNvPr id="415" name="Google Shape;415;p46"/>
          <p:cNvSpPr/>
          <p:nvPr/>
        </p:nvSpPr>
        <p:spPr>
          <a:xfrm>
            <a:off x="418564" y="1068950"/>
            <a:ext cx="10592873" cy="35674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FF0000"/>
              </a:solidFill>
              <a:latin typeface="Calibri"/>
              <a:ea typeface="Calibri"/>
              <a:cs typeface="Calibri"/>
              <a:sym typeface="Calibri"/>
            </a:endParaRPr>
          </a:p>
        </p:txBody>
      </p:sp>
      <p:pic>
        <p:nvPicPr>
          <p:cNvPr id="416" name="Google Shape;416;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7"/>
          <p:cNvSpPr/>
          <p:nvPr/>
        </p:nvSpPr>
        <p:spPr>
          <a:xfrm>
            <a:off x="0" y="1068950"/>
            <a:ext cx="10921285" cy="5789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CC6600"/>
              </a:solidFill>
              <a:latin typeface="Calibri"/>
              <a:ea typeface="Calibri"/>
              <a:cs typeface="Calibri"/>
              <a:sym typeface="Calibri"/>
            </a:endParaRPr>
          </a:p>
        </p:txBody>
      </p:sp>
      <p:sp>
        <p:nvSpPr>
          <p:cNvPr id="422" name="Google Shape;422;p47"/>
          <p:cNvSpPr/>
          <p:nvPr/>
        </p:nvSpPr>
        <p:spPr>
          <a:xfrm>
            <a:off x="418564" y="1068950"/>
            <a:ext cx="10592873" cy="35674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FF0000"/>
              </a:solidFill>
              <a:latin typeface="Calibri"/>
              <a:ea typeface="Calibri"/>
              <a:cs typeface="Calibri"/>
              <a:sym typeface="Calibri"/>
            </a:endParaRPr>
          </a:p>
        </p:txBody>
      </p:sp>
      <p:pic>
        <p:nvPicPr>
          <p:cNvPr id="423" name="Google Shape;423;p47"/>
          <p:cNvPicPr preferRelativeResize="0"/>
          <p:nvPr/>
        </p:nvPicPr>
        <p:blipFill rotWithShape="1">
          <a:blip r:embed="rId3">
            <a:alphaModFix/>
          </a:blip>
          <a:srcRect b="0" l="0" r="0" t="0"/>
          <a:stretch/>
        </p:blipFill>
        <p:spPr>
          <a:xfrm>
            <a:off x="-1" y="0"/>
            <a:ext cx="12192001" cy="68579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8"/>
          <p:cNvSpPr txBox="1"/>
          <p:nvPr/>
        </p:nvSpPr>
        <p:spPr>
          <a:xfrm>
            <a:off x="418564" y="283328"/>
            <a:ext cx="8532254" cy="66970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CC6600"/>
              </a:buClr>
              <a:buSzPts val="3200"/>
              <a:buFont typeface="Verdana"/>
              <a:buNone/>
            </a:pPr>
            <a:r>
              <a:rPr b="1" lang="en-US" sz="3200">
                <a:solidFill>
                  <a:srgbClr val="CC6600"/>
                </a:solidFill>
                <a:latin typeface="Verdana"/>
                <a:ea typeface="Verdana"/>
                <a:cs typeface="Verdana"/>
                <a:sym typeface="Verdana"/>
              </a:rPr>
              <a:t>dofollow and nofollow Links</a:t>
            </a:r>
            <a:endParaRPr/>
          </a:p>
        </p:txBody>
      </p:sp>
      <p:pic>
        <p:nvPicPr>
          <p:cNvPr id="429" name="Google Shape;429;p48"/>
          <p:cNvPicPr preferRelativeResize="0"/>
          <p:nvPr/>
        </p:nvPicPr>
        <p:blipFill rotWithShape="1">
          <a:blip r:embed="rId3">
            <a:alphaModFix/>
          </a:blip>
          <a:srcRect b="0" l="0" r="0" t="0"/>
          <a:stretch/>
        </p:blipFill>
        <p:spPr>
          <a:xfrm>
            <a:off x="749962" y="1212683"/>
            <a:ext cx="10692075" cy="511592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9"/>
          <p:cNvSpPr/>
          <p:nvPr/>
        </p:nvSpPr>
        <p:spPr>
          <a:xfrm rot="5400000">
            <a:off x="262063" y="-262063"/>
            <a:ext cx="2699133" cy="3223260"/>
          </a:xfrm>
          <a:prstGeom prst="rtTriangle">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49"/>
          <p:cNvSpPr/>
          <p:nvPr/>
        </p:nvSpPr>
        <p:spPr>
          <a:xfrm>
            <a:off x="3366479" y="1592172"/>
            <a:ext cx="8968740" cy="469294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6600"/>
                </a:solidFill>
                <a:latin typeface="Calibri"/>
                <a:ea typeface="Calibri"/>
                <a:cs typeface="Calibri"/>
                <a:sym typeface="Calibri"/>
              </a:rPr>
              <a:t>A Forum posting site is an online discussion board that allows users to have meaningful conversations in the form of a posted message, </a:t>
            </a:r>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When carries out correctly. </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Forum posting can bring multiple befits for your business.</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Exposure to new customers.</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Better understand of your customers.</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Opportunities to answer any questions customer or potential customers must have.</a:t>
            </a:r>
            <a:endParaRPr b="1" sz="2400">
              <a:solidFill>
                <a:srgbClr val="CC6600"/>
              </a:solidFill>
              <a:latin typeface="Calibri"/>
              <a:ea typeface="Calibri"/>
              <a:cs typeface="Calibri"/>
              <a:sym typeface="Calibri"/>
            </a:endParaRPr>
          </a:p>
        </p:txBody>
      </p:sp>
      <p:sp>
        <p:nvSpPr>
          <p:cNvPr id="436" name="Google Shape;436;p49"/>
          <p:cNvSpPr/>
          <p:nvPr/>
        </p:nvSpPr>
        <p:spPr>
          <a:xfrm>
            <a:off x="143220" y="4997072"/>
            <a:ext cx="3223259" cy="116181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6600"/>
                </a:solidFill>
                <a:latin typeface="Calibri"/>
                <a:ea typeface="Calibri"/>
                <a:cs typeface="Calibri"/>
                <a:sym typeface="Calibri"/>
              </a:rPr>
              <a:t>Tools:</a:t>
            </a:r>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Quora.com</a:t>
            </a:r>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Stackoverflow.com, etc.</a:t>
            </a:r>
            <a:endParaRPr/>
          </a:p>
        </p:txBody>
      </p:sp>
      <p:sp>
        <p:nvSpPr>
          <p:cNvPr id="437" name="Google Shape;437;p49"/>
          <p:cNvSpPr/>
          <p:nvPr/>
        </p:nvSpPr>
        <p:spPr>
          <a:xfrm>
            <a:off x="2771567" y="286908"/>
            <a:ext cx="8968742" cy="13771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rgbClr val="CC6600"/>
                </a:solidFill>
                <a:latin typeface="Arial Black"/>
                <a:ea typeface="Arial Black"/>
                <a:cs typeface="Arial Black"/>
                <a:sym typeface="Arial Black"/>
              </a:rPr>
              <a:t>F</a:t>
            </a:r>
            <a:r>
              <a:rPr lang="en-US" sz="6600">
                <a:solidFill>
                  <a:srgbClr val="CC6600"/>
                </a:solidFill>
                <a:latin typeface="Arial Black"/>
                <a:ea typeface="Arial Black"/>
                <a:cs typeface="Arial Black"/>
                <a:sym typeface="Arial Black"/>
              </a:rPr>
              <a:t>ORUM POSTING</a:t>
            </a:r>
            <a:endParaRPr/>
          </a:p>
        </p:txBody>
      </p:sp>
      <p:pic>
        <p:nvPicPr>
          <p:cNvPr id="438" name="Google Shape;438;p49"/>
          <p:cNvPicPr preferRelativeResize="0"/>
          <p:nvPr/>
        </p:nvPicPr>
        <p:blipFill rotWithShape="1">
          <a:blip r:embed="rId3">
            <a:alphaModFix/>
          </a:blip>
          <a:srcRect b="6692" l="11951" r="11367" t="5157"/>
          <a:stretch/>
        </p:blipFill>
        <p:spPr>
          <a:xfrm>
            <a:off x="122012" y="2699134"/>
            <a:ext cx="3283027" cy="2264425"/>
          </a:xfrm>
          <a:prstGeom prst="rect">
            <a:avLst/>
          </a:prstGeom>
          <a:noFill/>
          <a:ln>
            <a:noFill/>
          </a:ln>
        </p:spPr>
      </p:pic>
      <p:pic>
        <p:nvPicPr>
          <p:cNvPr id="439" name="Google Shape;439;p49"/>
          <p:cNvPicPr preferRelativeResize="0"/>
          <p:nvPr/>
        </p:nvPicPr>
        <p:blipFill rotWithShape="1">
          <a:blip r:embed="rId4">
            <a:alphaModFix/>
          </a:blip>
          <a:srcRect b="18726" l="16028" r="31227" t="74660"/>
          <a:stretch/>
        </p:blipFill>
        <p:spPr>
          <a:xfrm>
            <a:off x="3053011" y="6087977"/>
            <a:ext cx="6740693" cy="50532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0"/>
          <p:cNvSpPr/>
          <p:nvPr/>
        </p:nvSpPr>
        <p:spPr>
          <a:xfrm rot="5400000">
            <a:off x="438332" y="-438331"/>
            <a:ext cx="2346595" cy="3223260"/>
          </a:xfrm>
          <a:prstGeom prst="rtTriangle">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50"/>
          <p:cNvSpPr/>
          <p:nvPr/>
        </p:nvSpPr>
        <p:spPr>
          <a:xfrm>
            <a:off x="3608851" y="1359759"/>
            <a:ext cx="8333434" cy="546477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6600"/>
                </a:solidFill>
                <a:latin typeface="Calibri"/>
                <a:ea typeface="Calibri"/>
                <a:cs typeface="Calibri"/>
                <a:sym typeface="Calibri"/>
              </a:rPr>
              <a:t>Reciprocal Linking refers to creating reciprocal link between two websites, i.e. it is created when a website 'A' links to website 'B' which in turn links to website 'A’. </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l">
              <a:spcBef>
                <a:spcPts val="0"/>
              </a:spcBef>
              <a:spcAft>
                <a:spcPts val="0"/>
              </a:spcAft>
              <a:buNone/>
            </a:pPr>
            <a:r>
              <a:rPr b="1" lang="en-US" sz="2400">
                <a:solidFill>
                  <a:srgbClr val="CC6600"/>
                </a:solidFill>
                <a:latin typeface="Calibri"/>
                <a:ea typeface="Calibri"/>
                <a:cs typeface="Calibri"/>
                <a:sym typeface="Calibri"/>
              </a:rPr>
              <a:t>It is an agreement between two websites where each website is hyperlinked to another website.</a:t>
            </a:r>
            <a:endParaRPr/>
          </a:p>
          <a:p>
            <a:pPr indent="0" lvl="0" marL="0" marR="0" rtl="0" algn="l">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just">
              <a:spcBef>
                <a:spcPts val="0"/>
              </a:spcBef>
              <a:spcAft>
                <a:spcPts val="0"/>
              </a:spcAft>
              <a:buNone/>
            </a:pPr>
            <a:r>
              <a:rPr b="1" lang="en-US" sz="2400">
                <a:solidFill>
                  <a:srgbClr val="CC6600"/>
                </a:solidFill>
                <a:latin typeface="Calibri"/>
                <a:ea typeface="Calibri"/>
                <a:cs typeface="Calibri"/>
                <a:sym typeface="Calibri"/>
              </a:rPr>
              <a:t>The purpose of reciprocal liking is to provide readers a quick access to the related sites and to boost search engine rankings of the sites.</a:t>
            </a:r>
            <a:endParaRPr/>
          </a:p>
          <a:p>
            <a:pPr indent="0" lvl="0" marL="0" marR="0" rtl="0" algn="just">
              <a:spcBef>
                <a:spcPts val="0"/>
              </a:spcBef>
              <a:spcAft>
                <a:spcPts val="0"/>
              </a:spcAft>
              <a:buNone/>
            </a:pPr>
            <a:r>
              <a:t/>
            </a:r>
            <a:endParaRPr b="1" sz="2400">
              <a:solidFill>
                <a:srgbClr val="CC6600"/>
              </a:solidFill>
              <a:latin typeface="Calibri"/>
              <a:ea typeface="Calibri"/>
              <a:cs typeface="Calibri"/>
              <a:sym typeface="Calibri"/>
            </a:endParaRPr>
          </a:p>
          <a:p>
            <a:pPr indent="0" lvl="0" marL="0" marR="0" rtl="0" algn="just">
              <a:spcBef>
                <a:spcPts val="0"/>
              </a:spcBef>
              <a:spcAft>
                <a:spcPts val="0"/>
              </a:spcAft>
              <a:buNone/>
            </a:pPr>
            <a:r>
              <a:rPr b="1" lang="en-US" sz="2400">
                <a:solidFill>
                  <a:srgbClr val="CC6600"/>
                </a:solidFill>
                <a:latin typeface="Calibri"/>
                <a:ea typeface="Calibri"/>
                <a:cs typeface="Calibri"/>
                <a:sym typeface="Calibri"/>
              </a:rPr>
              <a:t>The reciprocal links should be built between related websites otherwise it will irritate your users that will harm SEO of your site, e.g. A car wash and dent repair company in the same city may link each other sites to attract more customers.</a:t>
            </a:r>
            <a:endParaRPr/>
          </a:p>
        </p:txBody>
      </p:sp>
      <p:sp>
        <p:nvSpPr>
          <p:cNvPr id="446" name="Google Shape;446;p50"/>
          <p:cNvSpPr/>
          <p:nvPr/>
        </p:nvSpPr>
        <p:spPr>
          <a:xfrm>
            <a:off x="2881736" y="154650"/>
            <a:ext cx="8968742" cy="120510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rgbClr val="CC6600"/>
                </a:solidFill>
                <a:latin typeface="Arial Black"/>
                <a:ea typeface="Arial Black"/>
                <a:cs typeface="Arial Black"/>
                <a:sym typeface="Arial Black"/>
              </a:rPr>
              <a:t>R</a:t>
            </a:r>
            <a:r>
              <a:rPr lang="en-US" sz="6600">
                <a:solidFill>
                  <a:srgbClr val="CC6600"/>
                </a:solidFill>
                <a:latin typeface="Arial Black"/>
                <a:ea typeface="Arial Black"/>
                <a:cs typeface="Arial Black"/>
                <a:sym typeface="Arial Black"/>
              </a:rPr>
              <a:t>eciprocal Linking</a:t>
            </a:r>
            <a:endParaRPr/>
          </a:p>
        </p:txBody>
      </p:sp>
      <p:pic>
        <p:nvPicPr>
          <p:cNvPr descr="SEO Reciprocal linking" id="447" name="Google Shape;447;p50"/>
          <p:cNvPicPr preferRelativeResize="0"/>
          <p:nvPr/>
        </p:nvPicPr>
        <p:blipFill rotWithShape="1">
          <a:blip r:embed="rId3">
            <a:alphaModFix/>
          </a:blip>
          <a:srcRect b="0" l="0" r="0" t="0"/>
          <a:stretch/>
        </p:blipFill>
        <p:spPr>
          <a:xfrm>
            <a:off x="19785" y="2501246"/>
            <a:ext cx="3562350" cy="38481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1"/>
          <p:cNvSpPr/>
          <p:nvPr/>
        </p:nvSpPr>
        <p:spPr>
          <a:xfrm rot="5400000">
            <a:off x="438332" y="-438331"/>
            <a:ext cx="2346595" cy="3223260"/>
          </a:xfrm>
          <a:prstGeom prst="rtTriangle">
            <a:avLst/>
          </a:prstGeom>
          <a:solidFill>
            <a:srgbClr val="CC660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51"/>
          <p:cNvSpPr/>
          <p:nvPr/>
        </p:nvSpPr>
        <p:spPr>
          <a:xfrm>
            <a:off x="3223259" y="1514408"/>
            <a:ext cx="8865412" cy="513978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rgbClr val="CC6600"/>
                </a:solidFill>
                <a:latin typeface="Calibri"/>
                <a:ea typeface="Calibri"/>
                <a:cs typeface="Calibri"/>
                <a:sym typeface="Calibri"/>
              </a:rPr>
              <a:t>Link Popularity refers to the total number of links that point to a website. </a:t>
            </a:r>
            <a:endParaRPr/>
          </a:p>
          <a:p>
            <a:pPr indent="0" lvl="0" marL="0" marR="0" rtl="0" algn="just">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just">
              <a:spcBef>
                <a:spcPts val="0"/>
              </a:spcBef>
              <a:spcAft>
                <a:spcPts val="0"/>
              </a:spcAft>
              <a:buNone/>
            </a:pPr>
            <a:r>
              <a:rPr lang="en-US" sz="2400">
                <a:solidFill>
                  <a:srgbClr val="CC6600"/>
                </a:solidFill>
                <a:latin typeface="Calibri"/>
                <a:ea typeface="Calibri"/>
                <a:cs typeface="Calibri"/>
                <a:sym typeface="Calibri"/>
              </a:rPr>
              <a:t>These links are of two types; internal and external. Internal links are the links from your own webpages and external links are from other webpages or websites.</a:t>
            </a:r>
            <a:endParaRPr/>
          </a:p>
          <a:p>
            <a:pPr indent="0" lvl="0" marL="0" marR="0" rtl="0" algn="just">
              <a:spcBef>
                <a:spcPts val="0"/>
              </a:spcBef>
              <a:spcAft>
                <a:spcPts val="0"/>
              </a:spcAft>
              <a:buNone/>
            </a:pPr>
            <a:r>
              <a:t/>
            </a:r>
            <a:endParaRPr sz="2400">
              <a:solidFill>
                <a:srgbClr val="CC6600"/>
              </a:solidFill>
              <a:latin typeface="Calibri"/>
              <a:ea typeface="Calibri"/>
              <a:cs typeface="Calibri"/>
              <a:sym typeface="Calibri"/>
            </a:endParaRPr>
          </a:p>
          <a:p>
            <a:pPr indent="0" lvl="0" marL="0" marR="0" rtl="0" algn="just">
              <a:spcBef>
                <a:spcPts val="0"/>
              </a:spcBef>
              <a:spcAft>
                <a:spcPts val="0"/>
              </a:spcAft>
              <a:buNone/>
            </a:pPr>
            <a:r>
              <a:rPr lang="en-US" sz="2400">
                <a:solidFill>
                  <a:srgbClr val="CC6600"/>
                </a:solidFill>
                <a:latin typeface="Calibri"/>
                <a:ea typeface="Calibri"/>
                <a:cs typeface="Calibri"/>
                <a:sym typeface="Calibri"/>
              </a:rPr>
              <a:t>The high link popularity shows that more people are connected to your site and it contains useful content and information. So, it is one of the important factors for the search engines to rank websites in search engine result pages, i.e. if there are two websites with same level of search engine optimization, the site with higher link popularity will be ranked higher than the other by the search engine.</a:t>
            </a:r>
            <a:endParaRPr/>
          </a:p>
          <a:p>
            <a:pPr indent="0" lvl="0" marL="0" marR="0" rtl="0" algn="just">
              <a:spcBef>
                <a:spcPts val="0"/>
              </a:spcBef>
              <a:spcAft>
                <a:spcPts val="0"/>
              </a:spcAft>
              <a:buNone/>
            </a:pPr>
            <a:r>
              <a:t/>
            </a:r>
            <a:endParaRPr b="1" sz="2400">
              <a:solidFill>
                <a:srgbClr val="CC6600"/>
              </a:solidFill>
              <a:latin typeface="Calibri"/>
              <a:ea typeface="Calibri"/>
              <a:cs typeface="Calibri"/>
              <a:sym typeface="Calibri"/>
            </a:endParaRPr>
          </a:p>
        </p:txBody>
      </p:sp>
      <p:sp>
        <p:nvSpPr>
          <p:cNvPr id="454" name="Google Shape;454;p51"/>
          <p:cNvSpPr/>
          <p:nvPr/>
        </p:nvSpPr>
        <p:spPr>
          <a:xfrm>
            <a:off x="2716483" y="314394"/>
            <a:ext cx="8968742" cy="120510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rgbClr val="CC6600"/>
                </a:solidFill>
                <a:latin typeface="Arial Black"/>
                <a:ea typeface="Arial Black"/>
                <a:cs typeface="Arial Black"/>
                <a:sym typeface="Arial Black"/>
              </a:rPr>
              <a:t>L</a:t>
            </a:r>
            <a:r>
              <a:rPr lang="en-US" sz="6600">
                <a:solidFill>
                  <a:srgbClr val="CC6600"/>
                </a:solidFill>
                <a:latin typeface="Arial Black"/>
                <a:ea typeface="Arial Black"/>
                <a:cs typeface="Arial Black"/>
                <a:sym typeface="Arial Black"/>
              </a:rPr>
              <a:t>ink Popularity</a:t>
            </a:r>
            <a:endParaRPr/>
          </a:p>
        </p:txBody>
      </p:sp>
      <p:pic>
        <p:nvPicPr>
          <p:cNvPr descr="SEO Link popularity" id="455" name="Google Shape;455;p51"/>
          <p:cNvPicPr preferRelativeResize="0"/>
          <p:nvPr/>
        </p:nvPicPr>
        <p:blipFill rotWithShape="1">
          <a:blip r:embed="rId3">
            <a:alphaModFix/>
          </a:blip>
          <a:srcRect b="0" l="0" r="0" t="0"/>
          <a:stretch/>
        </p:blipFill>
        <p:spPr>
          <a:xfrm>
            <a:off x="182878" y="2346596"/>
            <a:ext cx="3040379" cy="322793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g33b34cbcae6_0_0" title="Screenshot (16).png"/>
          <p:cNvPicPr preferRelativeResize="0"/>
          <p:nvPr/>
        </p:nvPicPr>
        <p:blipFill>
          <a:blip r:embed="rId3">
            <a:alphaModFix/>
          </a:blip>
          <a:stretch>
            <a:fillRect/>
          </a:stretch>
        </p:blipFill>
        <p:spPr>
          <a:xfrm>
            <a:off x="1047750" y="1519499"/>
            <a:ext cx="10453824" cy="5203950"/>
          </a:xfrm>
          <a:prstGeom prst="rect">
            <a:avLst/>
          </a:prstGeom>
          <a:noFill/>
          <a:ln cap="flat" cmpd="sng" w="9525">
            <a:solidFill>
              <a:schemeClr val="dk2"/>
            </a:solidFill>
            <a:prstDash val="solid"/>
            <a:round/>
            <a:headEnd len="sm" w="sm" type="none"/>
            <a:tailEnd len="sm" w="sm" type="none"/>
          </a:ln>
        </p:spPr>
      </p:pic>
      <p:sp>
        <p:nvSpPr>
          <p:cNvPr id="461" name="Google Shape;461;g33b34cbcae6_0_0"/>
          <p:cNvSpPr/>
          <p:nvPr/>
        </p:nvSpPr>
        <p:spPr>
          <a:xfrm>
            <a:off x="2716483" y="314394"/>
            <a:ext cx="8968800" cy="1205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rgbClr val="CC6600"/>
                </a:solidFill>
                <a:latin typeface="Arial Black"/>
                <a:ea typeface="Arial Black"/>
                <a:cs typeface="Arial Black"/>
                <a:sym typeface="Arial Black"/>
              </a:rPr>
              <a:t>L</a:t>
            </a:r>
            <a:r>
              <a:rPr lang="en-US" sz="6600">
                <a:solidFill>
                  <a:srgbClr val="CC6600"/>
                </a:solidFill>
                <a:latin typeface="Arial Black"/>
                <a:ea typeface="Arial Black"/>
                <a:cs typeface="Arial Black"/>
                <a:sym typeface="Arial Black"/>
              </a:rPr>
              <a:t>ink Popularity</a:t>
            </a:r>
            <a:endParaRPr/>
          </a:p>
        </p:txBody>
      </p:sp>
      <p:sp>
        <p:nvSpPr>
          <p:cNvPr id="462" name="Google Shape;462;g33b34cbcae6_0_0"/>
          <p:cNvSpPr txBox="1"/>
          <p:nvPr/>
        </p:nvSpPr>
        <p:spPr>
          <a:xfrm>
            <a:off x="275550" y="9156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https://seo.ai/tools/backlink-checker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2021-06-18T15:28:49Z</dcterms:created>
  <dc:creator>Avanish</dc:creator>
</cp:coreProperties>
</file>